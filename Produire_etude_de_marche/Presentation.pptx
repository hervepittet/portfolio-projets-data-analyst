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7" r:id="rId5"/>
    <p:sldId id="260" r:id="rId6"/>
    <p:sldId id="261" r:id="rId7"/>
    <p:sldId id="271" r:id="rId8"/>
    <p:sldId id="266" r:id="rId9"/>
    <p:sldId id="262" r:id="rId10"/>
    <p:sldId id="263" r:id="rId11"/>
    <p:sldId id="273" r:id="rId12"/>
    <p:sldId id="274" r:id="rId13"/>
    <p:sldId id="275" r:id="rId14"/>
    <p:sldId id="277" r:id="rId15"/>
    <p:sldId id="278" r:id="rId16"/>
    <p:sldId id="279" r:id="rId17"/>
    <p:sldId id="280" r:id="rId18"/>
    <p:sldId id="281" r:id="rId19"/>
    <p:sldId id="272" r:id="rId20"/>
    <p:sldId id="282" r:id="rId21"/>
    <p:sldId id="264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559" userDrawn="1">
          <p15:clr>
            <a:srgbClr val="A4A3A4"/>
          </p15:clr>
        </p15:guide>
        <p15:guide id="4" pos="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7B00B-D727-447B-802F-A08ACDC2C017}" v="27" dt="2025-02-24T08:21:59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71" autoAdjust="0"/>
  </p:normalViewPr>
  <p:slideViewPr>
    <p:cSldViewPr snapToGrid="0" showGuides="1">
      <p:cViewPr varScale="1">
        <p:scale>
          <a:sx n="69" d="100"/>
          <a:sy n="69" d="100"/>
        </p:scale>
        <p:origin x="1218" y="288"/>
      </p:cViewPr>
      <p:guideLst>
        <p:guide orient="horz" pos="2160"/>
        <p:guide pos="3840"/>
        <p:guide pos="7559"/>
        <p:guide pos="1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vé Pittet" userId="4d581d3f41509fe7" providerId="LiveId" clId="{5A67B00B-D727-447B-802F-A08ACDC2C017}"/>
    <pc:docChg chg="undo custSel delSld modSld">
      <pc:chgData name="Hervé Pittet" userId="4d581d3f41509fe7" providerId="LiveId" clId="{5A67B00B-D727-447B-802F-A08ACDC2C017}" dt="2025-02-24T08:22:41.413" v="122" actId="1076"/>
      <pc:docMkLst>
        <pc:docMk/>
      </pc:docMkLst>
      <pc:sldChg chg="modNotesTx">
        <pc:chgData name="Hervé Pittet" userId="4d581d3f41509fe7" providerId="LiveId" clId="{5A67B00B-D727-447B-802F-A08ACDC2C017}" dt="2025-02-17T14:09:46.175" v="0" actId="6549"/>
        <pc:sldMkLst>
          <pc:docMk/>
          <pc:sldMk cId="881144084" sldId="260"/>
        </pc:sldMkLst>
      </pc:sldChg>
      <pc:sldChg chg="modSp modNotesTx">
        <pc:chgData name="Hervé Pittet" userId="4d581d3f41509fe7" providerId="LiveId" clId="{5A67B00B-D727-447B-802F-A08ACDC2C017}" dt="2025-02-23T11:33:32.117" v="26" actId="14826"/>
        <pc:sldMkLst>
          <pc:docMk/>
          <pc:sldMk cId="2053480803" sldId="262"/>
        </pc:sldMkLst>
        <pc:picChg chg="mod">
          <ac:chgData name="Hervé Pittet" userId="4d581d3f41509fe7" providerId="LiveId" clId="{5A67B00B-D727-447B-802F-A08ACDC2C017}" dt="2025-02-23T11:33:32.117" v="26" actId="14826"/>
          <ac:picMkLst>
            <pc:docMk/>
            <pc:sldMk cId="2053480803" sldId="262"/>
            <ac:picMk id="5" creationId="{220EAFA8-7ACC-3DAA-F056-B144FEC1BFC4}"/>
          </ac:picMkLst>
        </pc:picChg>
      </pc:sldChg>
      <pc:sldChg chg="modSp modNotesTx">
        <pc:chgData name="Hervé Pittet" userId="4d581d3f41509fe7" providerId="LiveId" clId="{5A67B00B-D727-447B-802F-A08ACDC2C017}" dt="2025-02-23T11:33:52.977" v="27" actId="14826"/>
        <pc:sldMkLst>
          <pc:docMk/>
          <pc:sldMk cId="3512712392" sldId="263"/>
        </pc:sldMkLst>
        <pc:picChg chg="mod">
          <ac:chgData name="Hervé Pittet" userId="4d581d3f41509fe7" providerId="LiveId" clId="{5A67B00B-D727-447B-802F-A08ACDC2C017}" dt="2025-02-23T11:33:52.977" v="27" actId="14826"/>
          <ac:picMkLst>
            <pc:docMk/>
            <pc:sldMk cId="3512712392" sldId="263"/>
            <ac:picMk id="5" creationId="{2F26DFF0-6D37-B68C-9EBF-64C4A1FAB2FA}"/>
          </ac:picMkLst>
        </pc:picChg>
      </pc:sldChg>
      <pc:sldChg chg="modNotesTx">
        <pc:chgData name="Hervé Pittet" userId="4d581d3f41509fe7" providerId="LiveId" clId="{5A67B00B-D727-447B-802F-A08ACDC2C017}" dt="2025-02-17T14:11:59.260" v="22" actId="6549"/>
        <pc:sldMkLst>
          <pc:docMk/>
          <pc:sldMk cId="1568839407" sldId="264"/>
        </pc:sldMkLst>
      </pc:sldChg>
      <pc:sldChg chg="modNotesTx">
        <pc:chgData name="Hervé Pittet" userId="4d581d3f41509fe7" providerId="LiveId" clId="{5A67B00B-D727-447B-802F-A08ACDC2C017}" dt="2025-02-17T14:10:21.664" v="10" actId="6549"/>
        <pc:sldMkLst>
          <pc:docMk/>
          <pc:sldMk cId="603983668" sldId="266"/>
        </pc:sldMkLst>
      </pc:sldChg>
      <pc:sldChg chg="del">
        <pc:chgData name="Hervé Pittet" userId="4d581d3f41509fe7" providerId="LiveId" clId="{5A67B00B-D727-447B-802F-A08ACDC2C017}" dt="2025-02-17T14:12:04.726" v="23" actId="47"/>
        <pc:sldMkLst>
          <pc:docMk/>
          <pc:sldMk cId="1089520606" sldId="268"/>
        </pc:sldMkLst>
      </pc:sldChg>
      <pc:sldChg chg="del">
        <pc:chgData name="Hervé Pittet" userId="4d581d3f41509fe7" providerId="LiveId" clId="{5A67B00B-D727-447B-802F-A08ACDC2C017}" dt="2025-02-17T14:12:04.726" v="23" actId="47"/>
        <pc:sldMkLst>
          <pc:docMk/>
          <pc:sldMk cId="3965248812" sldId="269"/>
        </pc:sldMkLst>
      </pc:sldChg>
      <pc:sldChg chg="del">
        <pc:chgData name="Hervé Pittet" userId="4d581d3f41509fe7" providerId="LiveId" clId="{5A67B00B-D727-447B-802F-A08ACDC2C017}" dt="2025-02-17T14:12:04.726" v="23" actId="47"/>
        <pc:sldMkLst>
          <pc:docMk/>
          <pc:sldMk cId="4117854449" sldId="270"/>
        </pc:sldMkLst>
      </pc:sldChg>
      <pc:sldChg chg="modSp mod">
        <pc:chgData name="Hervé Pittet" userId="4d581d3f41509fe7" providerId="LiveId" clId="{5A67B00B-D727-447B-802F-A08ACDC2C017}" dt="2025-02-23T11:32:51.101" v="25" actId="20577"/>
        <pc:sldMkLst>
          <pc:docMk/>
          <pc:sldMk cId="2299769189" sldId="271"/>
        </pc:sldMkLst>
        <pc:spChg chg="mod">
          <ac:chgData name="Hervé Pittet" userId="4d581d3f41509fe7" providerId="LiveId" clId="{5A67B00B-D727-447B-802F-A08ACDC2C017}" dt="2025-02-23T11:32:51.101" v="25" actId="20577"/>
          <ac:spMkLst>
            <pc:docMk/>
            <pc:sldMk cId="2299769189" sldId="271"/>
            <ac:spMk id="14" creationId="{136A8B26-306C-62F1-7D7E-E1BE0A6B089B}"/>
          </ac:spMkLst>
        </pc:spChg>
      </pc:sldChg>
      <pc:sldChg chg="delSp modSp mod">
        <pc:chgData name="Hervé Pittet" userId="4d581d3f41509fe7" providerId="LiveId" clId="{5A67B00B-D727-447B-802F-A08ACDC2C017}" dt="2025-02-24T08:22:41.413" v="122" actId="1076"/>
        <pc:sldMkLst>
          <pc:docMk/>
          <pc:sldMk cId="164712632" sldId="272"/>
        </pc:sldMkLst>
        <pc:picChg chg="mod">
          <ac:chgData name="Hervé Pittet" userId="4d581d3f41509fe7" providerId="LiveId" clId="{5A67B00B-D727-447B-802F-A08ACDC2C017}" dt="2025-02-24T08:19:08.392" v="111" actId="14826"/>
          <ac:picMkLst>
            <pc:docMk/>
            <pc:sldMk cId="164712632" sldId="272"/>
            <ac:picMk id="10" creationId="{FE2B2BC7-E078-46C3-9224-10F686897844}"/>
          </ac:picMkLst>
        </pc:picChg>
        <pc:picChg chg="del mod">
          <ac:chgData name="Hervé Pittet" userId="4d581d3f41509fe7" providerId="LiveId" clId="{5A67B00B-D727-447B-802F-A08ACDC2C017}" dt="2025-02-24T08:21:23.921" v="112" actId="478"/>
          <ac:picMkLst>
            <pc:docMk/>
            <pc:sldMk cId="164712632" sldId="272"/>
            <ac:picMk id="12" creationId="{18CBA6D3-4551-556D-CBAB-D6D9DEF8E537}"/>
          </ac:picMkLst>
        </pc:picChg>
        <pc:picChg chg="mod">
          <ac:chgData name="Hervé Pittet" userId="4d581d3f41509fe7" providerId="LiveId" clId="{5A67B00B-D727-447B-802F-A08ACDC2C017}" dt="2025-02-24T08:22:25.588" v="119" actId="1076"/>
          <ac:picMkLst>
            <pc:docMk/>
            <pc:sldMk cId="164712632" sldId="272"/>
            <ac:picMk id="13" creationId="{319C1D60-2FB2-28A4-A7DB-203EBBFA6D6F}"/>
          </ac:picMkLst>
        </pc:picChg>
        <pc:picChg chg="mod">
          <ac:chgData name="Hervé Pittet" userId="4d581d3f41509fe7" providerId="LiveId" clId="{5A67B00B-D727-447B-802F-A08ACDC2C017}" dt="2025-02-24T08:22:41.413" v="122" actId="1076"/>
          <ac:picMkLst>
            <pc:docMk/>
            <pc:sldMk cId="164712632" sldId="272"/>
            <ac:picMk id="14" creationId="{4C2A8BFC-31EC-318D-211F-FC6F09629202}"/>
          </ac:picMkLst>
        </pc:picChg>
        <pc:picChg chg="mod">
          <ac:chgData name="Hervé Pittet" userId="4d581d3f41509fe7" providerId="LiveId" clId="{5A67B00B-D727-447B-802F-A08ACDC2C017}" dt="2025-02-24T08:22:35.453" v="121" actId="1076"/>
          <ac:picMkLst>
            <pc:docMk/>
            <pc:sldMk cId="164712632" sldId="272"/>
            <ac:picMk id="15" creationId="{6D39B8A8-0971-9267-E9A1-ABFC20426D14}"/>
          </ac:picMkLst>
        </pc:picChg>
      </pc:sldChg>
      <pc:sldChg chg="modNotesTx">
        <pc:chgData name="Hervé Pittet" userId="4d581d3f41509fe7" providerId="LiveId" clId="{5A67B00B-D727-447B-802F-A08ACDC2C017}" dt="2025-02-17T14:10:43.455" v="13" actId="6549"/>
        <pc:sldMkLst>
          <pc:docMk/>
          <pc:sldMk cId="1276055995" sldId="273"/>
        </pc:sldMkLst>
      </pc:sldChg>
      <pc:sldChg chg="modSp modNotesTx">
        <pc:chgData name="Hervé Pittet" userId="4d581d3f41509fe7" providerId="LiveId" clId="{5A67B00B-D727-447B-802F-A08ACDC2C017}" dt="2025-02-23T11:34:13.874" v="28" actId="14826"/>
        <pc:sldMkLst>
          <pc:docMk/>
          <pc:sldMk cId="3784761584" sldId="274"/>
        </pc:sldMkLst>
        <pc:picChg chg="mod">
          <ac:chgData name="Hervé Pittet" userId="4d581d3f41509fe7" providerId="LiveId" clId="{5A67B00B-D727-447B-802F-A08ACDC2C017}" dt="2025-02-23T11:34:13.874" v="28" actId="14826"/>
          <ac:picMkLst>
            <pc:docMk/>
            <pc:sldMk cId="3784761584" sldId="274"/>
            <ac:picMk id="4" creationId="{B4266EE2-C736-361C-4C4B-A48FF1C5DAFB}"/>
          </ac:picMkLst>
        </pc:picChg>
      </pc:sldChg>
      <pc:sldChg chg="modNotesTx">
        <pc:chgData name="Hervé Pittet" userId="4d581d3f41509fe7" providerId="LiveId" clId="{5A67B00B-D727-447B-802F-A08ACDC2C017}" dt="2025-02-17T14:11:01.859" v="15" actId="6549"/>
        <pc:sldMkLst>
          <pc:docMk/>
          <pc:sldMk cId="2632582080" sldId="275"/>
        </pc:sldMkLst>
      </pc:sldChg>
      <pc:sldChg chg="del">
        <pc:chgData name="Hervé Pittet" userId="4d581d3f41509fe7" providerId="LiveId" clId="{5A67B00B-D727-447B-802F-A08ACDC2C017}" dt="2025-02-17T14:12:04.726" v="23" actId="47"/>
        <pc:sldMkLst>
          <pc:docMk/>
          <pc:sldMk cId="10593677" sldId="276"/>
        </pc:sldMkLst>
      </pc:sldChg>
      <pc:sldChg chg="modSp mod modNotesTx">
        <pc:chgData name="Hervé Pittet" userId="4d581d3f41509fe7" providerId="LiveId" clId="{5A67B00B-D727-447B-802F-A08ACDC2C017}" dt="2025-02-24T08:10:28.995" v="100" actId="14826"/>
        <pc:sldMkLst>
          <pc:docMk/>
          <pc:sldMk cId="3960710647" sldId="277"/>
        </pc:sldMkLst>
        <pc:picChg chg="mod">
          <ac:chgData name="Hervé Pittet" userId="4d581d3f41509fe7" providerId="LiveId" clId="{5A67B00B-D727-447B-802F-A08ACDC2C017}" dt="2025-02-24T08:10:28.995" v="100" actId="14826"/>
          <ac:picMkLst>
            <pc:docMk/>
            <pc:sldMk cId="3960710647" sldId="277"/>
            <ac:picMk id="4" creationId="{607EF72D-FBF5-B871-A46B-CD4D9121A327}"/>
          </ac:picMkLst>
        </pc:picChg>
      </pc:sldChg>
      <pc:sldChg chg="modSp modNotesTx">
        <pc:chgData name="Hervé Pittet" userId="4d581d3f41509fe7" providerId="LiveId" clId="{5A67B00B-D727-447B-802F-A08ACDC2C017}" dt="2025-02-24T08:11:39.151" v="101" actId="14826"/>
        <pc:sldMkLst>
          <pc:docMk/>
          <pc:sldMk cId="2992521443" sldId="278"/>
        </pc:sldMkLst>
        <pc:picChg chg="mod">
          <ac:chgData name="Hervé Pittet" userId="4d581d3f41509fe7" providerId="LiveId" clId="{5A67B00B-D727-447B-802F-A08ACDC2C017}" dt="2025-02-24T08:11:39.151" v="101" actId="14826"/>
          <ac:picMkLst>
            <pc:docMk/>
            <pc:sldMk cId="2992521443" sldId="278"/>
            <ac:picMk id="5" creationId="{B464DAE8-5A48-B3CF-40C7-7D7FD1235A2F}"/>
          </ac:picMkLst>
        </pc:picChg>
      </pc:sldChg>
      <pc:sldChg chg="modSp modNotesTx">
        <pc:chgData name="Hervé Pittet" userId="4d581d3f41509fe7" providerId="LiveId" clId="{5A67B00B-D727-447B-802F-A08ACDC2C017}" dt="2025-02-24T08:12:38.276" v="102" actId="14826"/>
        <pc:sldMkLst>
          <pc:docMk/>
          <pc:sldMk cId="3044788264" sldId="279"/>
        </pc:sldMkLst>
        <pc:picChg chg="mod">
          <ac:chgData name="Hervé Pittet" userId="4d581d3f41509fe7" providerId="LiveId" clId="{5A67B00B-D727-447B-802F-A08ACDC2C017}" dt="2025-02-24T08:12:38.276" v="102" actId="14826"/>
          <ac:picMkLst>
            <pc:docMk/>
            <pc:sldMk cId="3044788264" sldId="279"/>
            <ac:picMk id="5" creationId="{776C3BBB-9CD7-92BC-9DA1-76DBD9891A71}"/>
          </ac:picMkLst>
        </pc:picChg>
      </pc:sldChg>
      <pc:sldChg chg="modSp modNotesTx">
        <pc:chgData name="Hervé Pittet" userId="4d581d3f41509fe7" providerId="LiveId" clId="{5A67B00B-D727-447B-802F-A08ACDC2C017}" dt="2025-02-24T08:14:16.889" v="103" actId="14826"/>
        <pc:sldMkLst>
          <pc:docMk/>
          <pc:sldMk cId="928757491" sldId="280"/>
        </pc:sldMkLst>
        <pc:picChg chg="mod">
          <ac:chgData name="Hervé Pittet" userId="4d581d3f41509fe7" providerId="LiveId" clId="{5A67B00B-D727-447B-802F-A08ACDC2C017}" dt="2025-02-24T08:14:16.889" v="103" actId="14826"/>
          <ac:picMkLst>
            <pc:docMk/>
            <pc:sldMk cId="928757491" sldId="280"/>
            <ac:picMk id="5" creationId="{03D1C3BB-D45D-B9CB-EFEF-435D415D7B6F}"/>
          </ac:picMkLst>
        </pc:picChg>
      </pc:sldChg>
      <pc:sldChg chg="addSp delSp modSp mod modNotesTx">
        <pc:chgData name="Hervé Pittet" userId="4d581d3f41509fe7" providerId="LiveId" clId="{5A67B00B-D727-447B-802F-A08ACDC2C017}" dt="2025-02-24T08:18:03.948" v="110" actId="14100"/>
        <pc:sldMkLst>
          <pc:docMk/>
          <pc:sldMk cId="57044561" sldId="281"/>
        </pc:sldMkLst>
        <pc:spChg chg="mod">
          <ac:chgData name="Hervé Pittet" userId="4d581d3f41509fe7" providerId="LiveId" clId="{5A67B00B-D727-447B-802F-A08ACDC2C017}" dt="2025-02-24T08:16:28.609" v="107" actId="14100"/>
          <ac:spMkLst>
            <pc:docMk/>
            <pc:sldMk cId="57044561" sldId="281"/>
            <ac:spMk id="2" creationId="{365AFA3B-95BF-10FD-CE18-FD2756FE98D5}"/>
          </ac:spMkLst>
        </pc:spChg>
        <pc:spChg chg="del">
          <ac:chgData name="Hervé Pittet" userId="4d581d3f41509fe7" providerId="LiveId" clId="{5A67B00B-D727-447B-802F-A08ACDC2C017}" dt="2025-02-23T11:40:23.312" v="40" actId="478"/>
          <ac:spMkLst>
            <pc:docMk/>
            <pc:sldMk cId="57044561" sldId="281"/>
            <ac:spMk id="4" creationId="{6EFDDA91-473A-5F56-DA28-1798D6CA4138}"/>
          </ac:spMkLst>
        </pc:spChg>
        <pc:spChg chg="add mod">
          <ac:chgData name="Hervé Pittet" userId="4d581d3f41509fe7" providerId="LiveId" clId="{5A67B00B-D727-447B-802F-A08ACDC2C017}" dt="2025-02-24T08:18:03.948" v="110" actId="14100"/>
          <ac:spMkLst>
            <pc:docMk/>
            <pc:sldMk cId="57044561" sldId="281"/>
            <ac:spMk id="6" creationId="{A78F4122-40FC-A00F-1013-2BF6B900A93A}"/>
          </ac:spMkLst>
        </pc:spChg>
        <pc:picChg chg="mod">
          <ac:chgData name="Hervé Pittet" userId="4d581d3f41509fe7" providerId="LiveId" clId="{5A67B00B-D727-447B-802F-A08ACDC2C017}" dt="2025-02-24T08:15:56.026" v="104" actId="14826"/>
          <ac:picMkLst>
            <pc:docMk/>
            <pc:sldMk cId="57044561" sldId="281"/>
            <ac:picMk id="5" creationId="{C9F7826F-F552-E5C1-45FA-9F3287F1357A}"/>
          </ac:picMkLst>
        </pc:picChg>
        <pc:picChg chg="mod">
          <ac:chgData name="Hervé Pittet" userId="4d581d3f41509fe7" providerId="LiveId" clId="{5A67B00B-D727-447B-802F-A08ACDC2C017}" dt="2025-02-24T08:17:49.023" v="108" actId="14826"/>
          <ac:picMkLst>
            <pc:docMk/>
            <pc:sldMk cId="57044561" sldId="281"/>
            <ac:picMk id="9" creationId="{74F69B2E-0808-947E-7BC7-210744F95319}"/>
          </ac:picMkLst>
        </pc:picChg>
      </pc:sldChg>
      <pc:sldChg chg="modNotesTx">
        <pc:chgData name="Hervé Pittet" userId="4d581d3f41509fe7" providerId="LiveId" clId="{5A67B00B-D727-447B-802F-A08ACDC2C017}" dt="2025-02-17T14:11:52.352" v="21" actId="6549"/>
        <pc:sldMkLst>
          <pc:docMk/>
          <pc:sldMk cId="1795218674" sldId="282"/>
        </pc:sldMkLst>
      </pc:sldChg>
      <pc:sldChg chg="del">
        <pc:chgData name="Hervé Pittet" userId="4d581d3f41509fe7" providerId="LiveId" clId="{5A67B00B-D727-447B-802F-A08ACDC2C017}" dt="2025-02-17T14:12:04.726" v="23" actId="47"/>
        <pc:sldMkLst>
          <pc:docMk/>
          <pc:sldMk cId="4005664257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4440-13C0-4E05-AC37-5D119848AC5D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B58CB-53ED-477D-A054-C03FCD9C98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857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228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273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688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786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387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66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endParaRPr lang="fr-FR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811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C394-2724-F455-68D1-7D1721E65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19B533-D0C2-4E78-2707-CC4783B65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D613A1A-24DF-E812-AC21-8D3A0527E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endParaRPr lang="fr-FR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E8FF54-B749-7499-1577-06BB5938D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543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792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2353-15C9-4E7B-506D-CD1433B8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7BB6B4-A724-1AED-89E4-CD7158CA1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B76DA64-70A0-AF80-D587-A7AF547A4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74D66A-CB55-F3DA-4020-64139461F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516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0ACDB-54AB-5BDF-49BA-74AA6123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AF406B-1CEC-2371-2214-3F35B257B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3AE8751-7F26-4442-A2DA-3BAC444F8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611F08-3BC2-299F-1781-30A998D0F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3459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F164-2099-1214-080D-1AC5EDA0C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43BFEF8-01A5-16B0-E438-1DF41AED0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6F7D62C-D0C8-1D81-1B90-5624087A2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22857B-6931-7414-A9F5-872E91440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4033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88F7-263A-1F8E-05BA-0FDE4EBD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8DDD20A-2165-BC33-36DC-624B70338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1595750-B405-8BD1-0C92-7D15B36BF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3F63EA-F596-2820-4810-C6CE21B4E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623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3EFDE-2D8A-15EE-944C-8365FF9B4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1EC08F-3FC5-2005-6833-0924C890E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F16A23-2F35-C139-7E82-05693AB78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2DE989-62C3-9DD2-0A03-015F96AF3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498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96D5E-B92E-E7B0-B069-9AE4FA32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40D0A3-73FC-D51C-9481-46CFFE000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3D683D-25FD-BF64-E035-2F603C0A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6C317D-A74A-BB5C-77B3-F4CC6619A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889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270B-B281-70D2-B391-1EB838AD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C9A212-C886-91A1-5D96-29471609B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5BAD8A-16EF-1A2A-6791-3AA33A801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6AE294-20AD-79F7-2078-42F43B9EA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4091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A509-05E8-F2F1-76E8-DF95AD21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A52FFD-26F1-1188-0A36-BD2D5F698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EA9AC0F-8A8C-C8BF-8EA1-93F3AF30C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74E86B-F193-D63B-AAF8-68116DBDF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7124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B58CB-53ED-477D-A054-C03FCD9C989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416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6E9EAF-A100-13EE-EAF3-AC9C849BE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85B5A0-E73B-B727-E30F-5EB7FC107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07E4A-5BE0-161B-4CB8-C2BEC9A3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10F0DD-D80D-349D-A485-E3D7CFEF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E05698-2BCE-9A8F-8E3B-81D258C3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382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41D-C379-6B77-CC12-7312208F9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3098FC-C448-B862-A2A6-7C910D6DF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F9F2F3-DFD5-BD86-97A9-00587687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171013-A572-BCC7-B676-DA2CC9F9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50DCE0-6929-24F4-66C8-6B10F07A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90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D8CA3-8C9F-8721-EF53-1653A85A1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014A62-526F-86C0-B7ED-6339C588C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14A2EA-5FB0-93B7-F332-213631F8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5F4A65-3B17-8588-E4A9-826A6207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866E86-C446-4112-0DC9-0DCB629C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95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14189-3320-7D00-9D16-80932EEB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93B36C-0E6E-6963-52A0-8A88D9D23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DD2F43-658F-6E3A-2416-93F81992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D51B6D-564B-155E-4375-BA61AD342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AF0026-E3EC-A796-8DCD-EFB14623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82DD88-CC30-8F31-AEDC-B96E9CC3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76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E93B39-C738-2D9E-AA8C-33FB4309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231DE9-F912-ACCF-7D63-67A798C38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79A55A-F529-AD79-33FE-52EEEB33B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C02AE0-7A67-7B14-8B35-B0A9EF92E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6D8BDA-BF0D-EAA1-DDAC-AE830BC10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D74FBBE-A2BE-DCB2-5D3E-88787C1D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C0EC901-F51C-B7F2-46E4-9F407A05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08FF26-3654-D17D-8D2A-C6740285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98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B4273F-763F-3AB5-ABE0-F8B6C0FA0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8F03779-2229-EBBB-A1BC-E701F0101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8FEF42-9C42-B2DA-4470-D868884EC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DA0521-61AC-0C9A-ACF1-A8928030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381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21FC155-0E54-380C-4656-E8213975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806E8AE-791C-3147-0DE2-5F42705A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79DB34-E63A-517B-23E0-2FE9846E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19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06E656-273C-0DBC-7A2C-208D4922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2B2FAC-082F-FC38-8909-B72E462B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312EEAA-818D-507C-E4A0-3C88EB1C0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CEA625-09CB-6F5E-9F47-83A81F14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B82CD4-6FA4-7503-E288-87D4BB51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E91DF6-DE0D-619C-B981-1EFB990A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42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6E760B-ABBD-5D1B-3BDC-BFD478A1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D589B13-7951-F7CE-F2BE-243020247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226E92-A2A4-15C1-2D83-4087C906D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90E694-9F9B-CF1D-C8B2-53119F49A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E21711-E551-2F57-E475-82176D94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285FA2-703E-24C1-8FE9-B14CC475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51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3BE135-89D1-BCB4-6455-D443D2DD7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EBA144-6625-2829-795A-61D1DA109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5349CC-0767-6A11-8CDE-D006A426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F13B6E-F51B-69F9-BDBB-D1D3EFB7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D7001D-B510-0EA5-26E5-ACFDBF35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257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F587795-CEC3-EDE9-FD09-65556892F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EB74C7-F9C7-92A6-9A01-7933BECBC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8E531F-4358-B002-DCBC-7072B0FD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D8D287-5A1E-5E96-92A7-C39D12A9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ACADEC-09D8-E35C-0705-E1A0CBF0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26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507640-77B1-4535-D365-4D3B978E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4EA1C6-3C98-CEF7-81B4-476FCE78A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464AFC-4D63-ABBD-903C-8553D3F93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23B50-1E8D-41AF-8DA8-BCD2B6A83378}" type="datetimeFigureOut">
              <a:rPr lang="fr-FR" smtClean="0"/>
              <a:t>23/02/2025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EBC5E3-B31E-25FD-B644-4101E6F09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510E3A-D745-E20A-CDEF-882A4A676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14E29A-2475-4F8C-AE95-F2CA85766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77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22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 4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AF6DB5C2-B676-B4AA-2B6B-925DB485C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15086"/>
            <a:ext cx="11658600" cy="4780027"/>
          </a:xfrm>
          <a:prstGeom prst="rect">
            <a:avLst/>
          </a:prstGeom>
        </p:spPr>
      </p:pic>
      <p:pic>
        <p:nvPicPr>
          <p:cNvPr id="7" name="Image 6" descr="Une image contenant texte, écriture manuscrite, Police, carte de visite&#10;&#10;Le contenu généré par l’IA peut être incorrect.">
            <a:extLst>
              <a:ext uri="{FF2B5EF4-FFF2-40B4-BE49-F238E27FC236}">
                <a16:creationId xmlns:a16="http://schemas.microsoft.com/office/drawing/2014/main" id="{56D7E268-AE6D-9B1F-A7C2-9169797C9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9" t="5870" r="5884" b="6640"/>
          <a:stretch/>
        </p:blipFill>
        <p:spPr>
          <a:xfrm>
            <a:off x="5268074" y="4450156"/>
            <a:ext cx="1655852" cy="163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1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77A6-3896-9532-5131-3CB7BD44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D6E08C00-612C-0D00-8607-5206EAEF35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98" t="12323" r="40538" b="41680"/>
          <a:stretch/>
        </p:blipFill>
        <p:spPr>
          <a:xfrm>
            <a:off x="4308874" y="1795408"/>
            <a:ext cx="3389319" cy="32671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522A51-0197-2787-BB0F-17D640FBF880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2FF40E4-6FCE-27D6-E543-E0AA13636EB1}"/>
              </a:ext>
            </a:extLst>
          </p:cNvPr>
          <p:cNvGrpSpPr/>
          <p:nvPr/>
        </p:nvGrpSpPr>
        <p:grpSpPr>
          <a:xfrm>
            <a:off x="422857" y="1249250"/>
            <a:ext cx="11346286" cy="4359499"/>
            <a:chOff x="422858" y="1249250"/>
            <a:chExt cx="11346286" cy="4359499"/>
          </a:xfrm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BB1DFC5F-5C4E-1FB9-4446-3677FAAD07E8}"/>
                </a:ext>
              </a:extLst>
            </p:cNvPr>
            <p:cNvSpPr/>
            <p:nvPr/>
          </p:nvSpPr>
          <p:spPr>
            <a:xfrm>
              <a:off x="3826911" y="1249250"/>
              <a:ext cx="1217316" cy="785612"/>
            </a:xfrm>
            <a:custGeom>
              <a:avLst/>
              <a:gdLst>
                <a:gd name="connsiteX0" fmla="*/ 737322 w 1217316"/>
                <a:gd name="connsiteY0" fmla="*/ 0 h 785612"/>
                <a:gd name="connsiteX1" fmla="*/ 824510 w 1217316"/>
                <a:gd name="connsiteY1" fmla="*/ 0 h 785612"/>
                <a:gd name="connsiteX2" fmla="*/ 1217316 w 1217316"/>
                <a:gd name="connsiteY2" fmla="*/ 392806 h 785612"/>
                <a:gd name="connsiteX3" fmla="*/ 1217315 w 1217316"/>
                <a:gd name="connsiteY3" fmla="*/ 392806 h 785612"/>
                <a:gd name="connsiteX4" fmla="*/ 824509 w 1217316"/>
                <a:gd name="connsiteY4" fmla="*/ 785612 h 785612"/>
                <a:gd name="connsiteX5" fmla="*/ 0 w 1217316"/>
                <a:gd name="connsiteY5" fmla="*/ 785612 h 785612"/>
                <a:gd name="connsiteX6" fmla="*/ 58566 w 1217316"/>
                <a:gd name="connsiteY6" fmla="*/ 689204 h 785612"/>
                <a:gd name="connsiteX7" fmla="*/ 573393 w 1217316"/>
                <a:gd name="connsiteY7" fmla="*/ 122590 h 785612"/>
                <a:gd name="connsiteX8" fmla="*/ 737322 w 1217316"/>
                <a:gd name="connsiteY8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7316" h="785612">
                  <a:moveTo>
                    <a:pt x="737322" y="0"/>
                  </a:moveTo>
                  <a:lnTo>
                    <a:pt x="824510" y="0"/>
                  </a:lnTo>
                  <a:cubicBezTo>
                    <a:pt x="1041451" y="0"/>
                    <a:pt x="1217316" y="175865"/>
                    <a:pt x="1217316" y="392806"/>
                  </a:cubicBezTo>
                  <a:lnTo>
                    <a:pt x="1217315" y="392806"/>
                  </a:lnTo>
                  <a:cubicBezTo>
                    <a:pt x="1217315" y="609747"/>
                    <a:pt x="1041450" y="785612"/>
                    <a:pt x="824509" y="785612"/>
                  </a:cubicBezTo>
                  <a:lnTo>
                    <a:pt x="0" y="785612"/>
                  </a:lnTo>
                  <a:lnTo>
                    <a:pt x="58566" y="689204"/>
                  </a:lnTo>
                  <a:cubicBezTo>
                    <a:pt x="202285" y="476461"/>
                    <a:pt x="375904" y="285580"/>
                    <a:pt x="573393" y="122590"/>
                  </a:cubicBezTo>
                  <a:lnTo>
                    <a:pt x="737322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6</a:t>
              </a:r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547AEB41-CA27-C298-F390-B11FFD6FF67F}"/>
                </a:ext>
              </a:extLst>
            </p:cNvPr>
            <p:cNvSpPr/>
            <p:nvPr/>
          </p:nvSpPr>
          <p:spPr>
            <a:xfrm>
              <a:off x="7147775" y="1249251"/>
              <a:ext cx="1217314" cy="785611"/>
            </a:xfrm>
            <a:custGeom>
              <a:avLst/>
              <a:gdLst>
                <a:gd name="connsiteX0" fmla="*/ 392806 w 1217314"/>
                <a:gd name="connsiteY0" fmla="*/ 0 h 785611"/>
                <a:gd name="connsiteX1" fmla="*/ 479992 w 1217314"/>
                <a:gd name="connsiteY1" fmla="*/ 0 h 785611"/>
                <a:gd name="connsiteX2" fmla="*/ 643921 w 1217314"/>
                <a:gd name="connsiteY2" fmla="*/ 122590 h 785611"/>
                <a:gd name="connsiteX3" fmla="*/ 1158748 w 1217314"/>
                <a:gd name="connsiteY3" fmla="*/ 689204 h 785611"/>
                <a:gd name="connsiteX4" fmla="*/ 1217314 w 1217314"/>
                <a:gd name="connsiteY4" fmla="*/ 785611 h 785611"/>
                <a:gd name="connsiteX5" fmla="*/ 392806 w 1217314"/>
                <a:gd name="connsiteY5" fmla="*/ 785611 h 785611"/>
                <a:gd name="connsiteX6" fmla="*/ 7980 w 1217314"/>
                <a:gd name="connsiteY6" fmla="*/ 471969 h 785611"/>
                <a:gd name="connsiteX7" fmla="*/ 0 w 1217314"/>
                <a:gd name="connsiteY7" fmla="*/ 392805 h 785611"/>
                <a:gd name="connsiteX8" fmla="*/ 7980 w 1217314"/>
                <a:gd name="connsiteY8" fmla="*/ 313642 h 785611"/>
                <a:gd name="connsiteX9" fmla="*/ 392806 w 1217314"/>
                <a:gd name="connsiteY9" fmla="*/ 0 h 7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7314" h="785611">
                  <a:moveTo>
                    <a:pt x="392806" y="0"/>
                  </a:moveTo>
                  <a:lnTo>
                    <a:pt x="479992" y="0"/>
                  </a:lnTo>
                  <a:lnTo>
                    <a:pt x="643921" y="122590"/>
                  </a:lnTo>
                  <a:cubicBezTo>
                    <a:pt x="841411" y="285580"/>
                    <a:pt x="1015030" y="476461"/>
                    <a:pt x="1158748" y="689204"/>
                  </a:cubicBezTo>
                  <a:lnTo>
                    <a:pt x="1217314" y="785611"/>
                  </a:lnTo>
                  <a:lnTo>
                    <a:pt x="392806" y="785611"/>
                  </a:lnTo>
                  <a:cubicBezTo>
                    <a:pt x="202983" y="785611"/>
                    <a:pt x="44608" y="650964"/>
                    <a:pt x="7980" y="471969"/>
                  </a:cubicBezTo>
                  <a:lnTo>
                    <a:pt x="0" y="392805"/>
                  </a:lnTo>
                  <a:lnTo>
                    <a:pt x="7980" y="313642"/>
                  </a:lnTo>
                  <a:cubicBezTo>
                    <a:pt x="44608" y="134647"/>
                    <a:pt x="202983" y="0"/>
                    <a:pt x="39280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1</a:t>
              </a:r>
              <a:endParaRPr lang="fr-FR" dirty="0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EC3888B7-E6ED-9D9C-BD65-742FC7628872}"/>
                </a:ext>
              </a:extLst>
            </p:cNvPr>
            <p:cNvSpPr/>
            <p:nvPr/>
          </p:nvSpPr>
          <p:spPr>
            <a:xfrm>
              <a:off x="3430201" y="3036193"/>
              <a:ext cx="1101019" cy="785612"/>
            </a:xfrm>
            <a:custGeom>
              <a:avLst/>
              <a:gdLst>
                <a:gd name="connsiteX0" fmla="*/ 32112 w 1101019"/>
                <a:gd name="connsiteY0" fmla="*/ 0 h 785612"/>
                <a:gd name="connsiteX1" fmla="*/ 708213 w 1101019"/>
                <a:gd name="connsiteY1" fmla="*/ 0 h 785612"/>
                <a:gd name="connsiteX2" fmla="*/ 1101019 w 1101019"/>
                <a:gd name="connsiteY2" fmla="*/ 392806 h 785612"/>
                <a:gd name="connsiteX3" fmla="*/ 1101018 w 1101019"/>
                <a:gd name="connsiteY3" fmla="*/ 392806 h 785612"/>
                <a:gd name="connsiteX4" fmla="*/ 708212 w 1101019"/>
                <a:gd name="connsiteY4" fmla="*/ 785612 h 785612"/>
                <a:gd name="connsiteX5" fmla="*/ 32112 w 1101019"/>
                <a:gd name="connsiteY5" fmla="*/ 785612 h 785612"/>
                <a:gd name="connsiteX6" fmla="*/ 13763 w 1101019"/>
                <a:gd name="connsiteY6" fmla="*/ 665382 h 785612"/>
                <a:gd name="connsiteX7" fmla="*/ 0 w 1101019"/>
                <a:gd name="connsiteY7" fmla="*/ 392806 h 785612"/>
                <a:gd name="connsiteX8" fmla="*/ 13763 w 1101019"/>
                <a:gd name="connsiteY8" fmla="*/ 120230 h 785612"/>
                <a:gd name="connsiteX9" fmla="*/ 32112 w 1101019"/>
                <a:gd name="connsiteY9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019" h="785612">
                  <a:moveTo>
                    <a:pt x="32112" y="0"/>
                  </a:moveTo>
                  <a:lnTo>
                    <a:pt x="708213" y="0"/>
                  </a:lnTo>
                  <a:cubicBezTo>
                    <a:pt x="925154" y="0"/>
                    <a:pt x="1101019" y="175865"/>
                    <a:pt x="1101019" y="392806"/>
                  </a:cubicBezTo>
                  <a:lnTo>
                    <a:pt x="1101018" y="392806"/>
                  </a:lnTo>
                  <a:cubicBezTo>
                    <a:pt x="1101018" y="609747"/>
                    <a:pt x="925153" y="785612"/>
                    <a:pt x="708212" y="785612"/>
                  </a:cubicBezTo>
                  <a:lnTo>
                    <a:pt x="32112" y="785612"/>
                  </a:lnTo>
                  <a:lnTo>
                    <a:pt x="13763" y="665382"/>
                  </a:lnTo>
                  <a:cubicBezTo>
                    <a:pt x="4662" y="575761"/>
                    <a:pt x="0" y="484828"/>
                    <a:pt x="0" y="392806"/>
                  </a:cubicBezTo>
                  <a:cubicBezTo>
                    <a:pt x="0" y="300784"/>
                    <a:pt x="4662" y="209851"/>
                    <a:pt x="13763" y="120230"/>
                  </a:cubicBezTo>
                  <a:lnTo>
                    <a:pt x="32112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5</a:t>
              </a:r>
              <a:endParaRPr lang="fr-FR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63222171-44C7-B552-4CCF-08E3CD3D928A}"/>
                </a:ext>
              </a:extLst>
            </p:cNvPr>
            <p:cNvSpPr/>
            <p:nvPr/>
          </p:nvSpPr>
          <p:spPr>
            <a:xfrm>
              <a:off x="7660784" y="3036194"/>
              <a:ext cx="1101017" cy="785611"/>
            </a:xfrm>
            <a:custGeom>
              <a:avLst/>
              <a:gdLst>
                <a:gd name="connsiteX0" fmla="*/ 392806 w 1101017"/>
                <a:gd name="connsiteY0" fmla="*/ 0 h 785611"/>
                <a:gd name="connsiteX1" fmla="*/ 1068905 w 1101017"/>
                <a:gd name="connsiteY1" fmla="*/ 0 h 785611"/>
                <a:gd name="connsiteX2" fmla="*/ 1087254 w 1101017"/>
                <a:gd name="connsiteY2" fmla="*/ 120230 h 785611"/>
                <a:gd name="connsiteX3" fmla="*/ 1101017 w 1101017"/>
                <a:gd name="connsiteY3" fmla="*/ 392806 h 785611"/>
                <a:gd name="connsiteX4" fmla="*/ 1087254 w 1101017"/>
                <a:gd name="connsiteY4" fmla="*/ 665382 h 785611"/>
                <a:gd name="connsiteX5" fmla="*/ 1068905 w 1101017"/>
                <a:gd name="connsiteY5" fmla="*/ 785611 h 785611"/>
                <a:gd name="connsiteX6" fmla="*/ 392806 w 1101017"/>
                <a:gd name="connsiteY6" fmla="*/ 785611 h 785611"/>
                <a:gd name="connsiteX7" fmla="*/ 7980 w 1101017"/>
                <a:gd name="connsiteY7" fmla="*/ 471969 h 785611"/>
                <a:gd name="connsiteX8" fmla="*/ 0 w 1101017"/>
                <a:gd name="connsiteY8" fmla="*/ 392805 h 785611"/>
                <a:gd name="connsiteX9" fmla="*/ 7980 w 1101017"/>
                <a:gd name="connsiteY9" fmla="*/ 313642 h 785611"/>
                <a:gd name="connsiteX10" fmla="*/ 392806 w 1101017"/>
                <a:gd name="connsiteY10" fmla="*/ 0 h 7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1017" h="785611">
                  <a:moveTo>
                    <a:pt x="392806" y="0"/>
                  </a:moveTo>
                  <a:lnTo>
                    <a:pt x="1068905" y="0"/>
                  </a:lnTo>
                  <a:lnTo>
                    <a:pt x="1087254" y="120230"/>
                  </a:lnTo>
                  <a:cubicBezTo>
                    <a:pt x="1096355" y="209851"/>
                    <a:pt x="1101017" y="300784"/>
                    <a:pt x="1101017" y="392806"/>
                  </a:cubicBezTo>
                  <a:cubicBezTo>
                    <a:pt x="1101017" y="484828"/>
                    <a:pt x="1096355" y="575761"/>
                    <a:pt x="1087254" y="665382"/>
                  </a:cubicBezTo>
                  <a:lnTo>
                    <a:pt x="1068905" y="785611"/>
                  </a:lnTo>
                  <a:lnTo>
                    <a:pt x="392806" y="785611"/>
                  </a:lnTo>
                  <a:cubicBezTo>
                    <a:pt x="202983" y="785611"/>
                    <a:pt x="44608" y="650964"/>
                    <a:pt x="7980" y="471969"/>
                  </a:cubicBezTo>
                  <a:lnTo>
                    <a:pt x="0" y="392805"/>
                  </a:lnTo>
                  <a:lnTo>
                    <a:pt x="7980" y="313642"/>
                  </a:lnTo>
                  <a:cubicBezTo>
                    <a:pt x="44608" y="134647"/>
                    <a:pt x="202983" y="0"/>
                    <a:pt x="392806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2</a:t>
              </a:r>
              <a:endParaRPr lang="fr-FR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FC93D51B-877A-DE30-4B0A-1C6DBA9713A7}"/>
                </a:ext>
              </a:extLst>
            </p:cNvPr>
            <p:cNvSpPr/>
            <p:nvPr/>
          </p:nvSpPr>
          <p:spPr>
            <a:xfrm>
              <a:off x="3826911" y="4823137"/>
              <a:ext cx="1217316" cy="785612"/>
            </a:xfrm>
            <a:custGeom>
              <a:avLst/>
              <a:gdLst>
                <a:gd name="connsiteX0" fmla="*/ 0 w 1217316"/>
                <a:gd name="connsiteY0" fmla="*/ 0 h 785612"/>
                <a:gd name="connsiteX1" fmla="*/ 824510 w 1217316"/>
                <a:gd name="connsiteY1" fmla="*/ 0 h 785612"/>
                <a:gd name="connsiteX2" fmla="*/ 1217316 w 1217316"/>
                <a:gd name="connsiteY2" fmla="*/ 392806 h 785612"/>
                <a:gd name="connsiteX3" fmla="*/ 1217315 w 1217316"/>
                <a:gd name="connsiteY3" fmla="*/ 392806 h 785612"/>
                <a:gd name="connsiteX4" fmla="*/ 824509 w 1217316"/>
                <a:gd name="connsiteY4" fmla="*/ 785612 h 785612"/>
                <a:gd name="connsiteX5" fmla="*/ 737323 w 1217316"/>
                <a:gd name="connsiteY5" fmla="*/ 785612 h 785612"/>
                <a:gd name="connsiteX6" fmla="*/ 573393 w 1217316"/>
                <a:gd name="connsiteY6" fmla="*/ 663021 h 785612"/>
                <a:gd name="connsiteX7" fmla="*/ 58566 w 1217316"/>
                <a:gd name="connsiteY7" fmla="*/ 96407 h 785612"/>
                <a:gd name="connsiteX8" fmla="*/ 0 w 1217316"/>
                <a:gd name="connsiteY8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7316" h="785612">
                  <a:moveTo>
                    <a:pt x="0" y="0"/>
                  </a:moveTo>
                  <a:lnTo>
                    <a:pt x="824510" y="0"/>
                  </a:lnTo>
                  <a:cubicBezTo>
                    <a:pt x="1041451" y="0"/>
                    <a:pt x="1217316" y="175865"/>
                    <a:pt x="1217316" y="392806"/>
                  </a:cubicBezTo>
                  <a:lnTo>
                    <a:pt x="1217315" y="392806"/>
                  </a:lnTo>
                  <a:cubicBezTo>
                    <a:pt x="1217315" y="609747"/>
                    <a:pt x="1041450" y="785612"/>
                    <a:pt x="824509" y="785612"/>
                  </a:cubicBezTo>
                  <a:lnTo>
                    <a:pt x="737323" y="785612"/>
                  </a:lnTo>
                  <a:lnTo>
                    <a:pt x="573393" y="663021"/>
                  </a:lnTo>
                  <a:cubicBezTo>
                    <a:pt x="375904" y="500031"/>
                    <a:pt x="202285" y="309150"/>
                    <a:pt x="58566" y="964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4</a:t>
              </a:r>
              <a:endParaRPr lang="fr-FR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125F92C6-E38D-7E70-B32E-A82CCF337170}"/>
                </a:ext>
              </a:extLst>
            </p:cNvPr>
            <p:cNvSpPr/>
            <p:nvPr/>
          </p:nvSpPr>
          <p:spPr>
            <a:xfrm>
              <a:off x="7147775" y="4823138"/>
              <a:ext cx="1217314" cy="785611"/>
            </a:xfrm>
            <a:custGeom>
              <a:avLst/>
              <a:gdLst>
                <a:gd name="connsiteX0" fmla="*/ 392806 w 1217314"/>
                <a:gd name="connsiteY0" fmla="*/ 0 h 785611"/>
                <a:gd name="connsiteX1" fmla="*/ 1217314 w 1217314"/>
                <a:gd name="connsiteY1" fmla="*/ 0 h 785611"/>
                <a:gd name="connsiteX2" fmla="*/ 1158748 w 1217314"/>
                <a:gd name="connsiteY2" fmla="*/ 96407 h 785611"/>
                <a:gd name="connsiteX3" fmla="*/ 643921 w 1217314"/>
                <a:gd name="connsiteY3" fmla="*/ 663021 h 785611"/>
                <a:gd name="connsiteX4" fmla="*/ 479992 w 1217314"/>
                <a:gd name="connsiteY4" fmla="*/ 785611 h 785611"/>
                <a:gd name="connsiteX5" fmla="*/ 392806 w 1217314"/>
                <a:gd name="connsiteY5" fmla="*/ 785611 h 785611"/>
                <a:gd name="connsiteX6" fmla="*/ 7980 w 1217314"/>
                <a:gd name="connsiteY6" fmla="*/ 471969 h 785611"/>
                <a:gd name="connsiteX7" fmla="*/ 0 w 1217314"/>
                <a:gd name="connsiteY7" fmla="*/ 392806 h 785611"/>
                <a:gd name="connsiteX8" fmla="*/ 7980 w 1217314"/>
                <a:gd name="connsiteY8" fmla="*/ 313642 h 785611"/>
                <a:gd name="connsiteX9" fmla="*/ 392806 w 1217314"/>
                <a:gd name="connsiteY9" fmla="*/ 0 h 7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7314" h="785611">
                  <a:moveTo>
                    <a:pt x="392806" y="0"/>
                  </a:moveTo>
                  <a:lnTo>
                    <a:pt x="1217314" y="0"/>
                  </a:lnTo>
                  <a:lnTo>
                    <a:pt x="1158748" y="96407"/>
                  </a:lnTo>
                  <a:cubicBezTo>
                    <a:pt x="1015030" y="309150"/>
                    <a:pt x="841411" y="500031"/>
                    <a:pt x="643921" y="663021"/>
                  </a:cubicBezTo>
                  <a:lnTo>
                    <a:pt x="479992" y="785611"/>
                  </a:lnTo>
                  <a:lnTo>
                    <a:pt x="392806" y="785611"/>
                  </a:lnTo>
                  <a:cubicBezTo>
                    <a:pt x="202983" y="785611"/>
                    <a:pt x="44608" y="650965"/>
                    <a:pt x="7980" y="471969"/>
                  </a:cubicBezTo>
                  <a:lnTo>
                    <a:pt x="0" y="392806"/>
                  </a:lnTo>
                  <a:lnTo>
                    <a:pt x="7980" y="313642"/>
                  </a:lnTo>
                  <a:cubicBezTo>
                    <a:pt x="44608" y="134647"/>
                    <a:pt x="202983" y="0"/>
                    <a:pt x="392806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3</a:t>
              </a:r>
              <a:endParaRPr lang="fr-FR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B588BA7-A373-3375-A011-D5490C66EA3E}"/>
                </a:ext>
              </a:extLst>
            </p:cNvPr>
            <p:cNvSpPr/>
            <p:nvPr/>
          </p:nvSpPr>
          <p:spPr>
            <a:xfrm>
              <a:off x="935867" y="1249250"/>
              <a:ext cx="3628367" cy="785612"/>
            </a:xfrm>
            <a:custGeom>
              <a:avLst/>
              <a:gdLst>
                <a:gd name="connsiteX0" fmla="*/ 392806 w 3628367"/>
                <a:gd name="connsiteY0" fmla="*/ 0 h 785612"/>
                <a:gd name="connsiteX1" fmla="*/ 3628367 w 3628367"/>
                <a:gd name="connsiteY1" fmla="*/ 0 h 785612"/>
                <a:gd name="connsiteX2" fmla="*/ 3464438 w 3628367"/>
                <a:gd name="connsiteY2" fmla="*/ 122590 h 785612"/>
                <a:gd name="connsiteX3" fmla="*/ 2949611 w 3628367"/>
                <a:gd name="connsiteY3" fmla="*/ 689204 h 785612"/>
                <a:gd name="connsiteX4" fmla="*/ 2891045 w 3628367"/>
                <a:gd name="connsiteY4" fmla="*/ 785612 h 785612"/>
                <a:gd name="connsiteX5" fmla="*/ 392806 w 3628367"/>
                <a:gd name="connsiteY5" fmla="*/ 785611 h 785612"/>
                <a:gd name="connsiteX6" fmla="*/ 7980 w 3628367"/>
                <a:gd name="connsiteY6" fmla="*/ 471969 h 785612"/>
                <a:gd name="connsiteX7" fmla="*/ 0 w 3628367"/>
                <a:gd name="connsiteY7" fmla="*/ 392805 h 785612"/>
                <a:gd name="connsiteX8" fmla="*/ 7980 w 3628367"/>
                <a:gd name="connsiteY8" fmla="*/ 313642 h 785612"/>
                <a:gd name="connsiteX9" fmla="*/ 392806 w 3628367"/>
                <a:gd name="connsiteY9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28367" h="785612">
                  <a:moveTo>
                    <a:pt x="392806" y="0"/>
                  </a:moveTo>
                  <a:lnTo>
                    <a:pt x="3628367" y="0"/>
                  </a:lnTo>
                  <a:lnTo>
                    <a:pt x="3464438" y="122590"/>
                  </a:lnTo>
                  <a:cubicBezTo>
                    <a:pt x="3266949" y="285580"/>
                    <a:pt x="3093330" y="476461"/>
                    <a:pt x="2949611" y="689204"/>
                  </a:cubicBezTo>
                  <a:lnTo>
                    <a:pt x="2891045" y="785612"/>
                  </a:lnTo>
                  <a:lnTo>
                    <a:pt x="392806" y="785611"/>
                  </a:lnTo>
                  <a:cubicBezTo>
                    <a:pt x="202983" y="785611"/>
                    <a:pt x="44608" y="650964"/>
                    <a:pt x="7980" y="471969"/>
                  </a:cubicBezTo>
                  <a:lnTo>
                    <a:pt x="0" y="392805"/>
                  </a:lnTo>
                  <a:lnTo>
                    <a:pt x="7980" y="313642"/>
                  </a:lnTo>
                  <a:cubicBezTo>
                    <a:pt x="44608" y="134647"/>
                    <a:pt x="202983" y="0"/>
                    <a:pt x="392806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Limites &amp; Conclusions</a:t>
              </a:r>
              <a:endParaRPr lang="fr-FR" dirty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A3F2609F-3075-F4BE-DCC7-7F51C96CFB24}"/>
                </a:ext>
              </a:extLst>
            </p:cNvPr>
            <p:cNvSpPr/>
            <p:nvPr/>
          </p:nvSpPr>
          <p:spPr>
            <a:xfrm>
              <a:off x="7627768" y="1249250"/>
              <a:ext cx="3628369" cy="785612"/>
            </a:xfrm>
            <a:custGeom>
              <a:avLst/>
              <a:gdLst>
                <a:gd name="connsiteX0" fmla="*/ 0 w 3628369"/>
                <a:gd name="connsiteY0" fmla="*/ 0 h 785612"/>
                <a:gd name="connsiteX1" fmla="*/ 3235563 w 3628369"/>
                <a:gd name="connsiteY1" fmla="*/ 0 h 785612"/>
                <a:gd name="connsiteX2" fmla="*/ 3628369 w 3628369"/>
                <a:gd name="connsiteY2" fmla="*/ 392806 h 785612"/>
                <a:gd name="connsiteX3" fmla="*/ 3628368 w 3628369"/>
                <a:gd name="connsiteY3" fmla="*/ 392806 h 785612"/>
                <a:gd name="connsiteX4" fmla="*/ 3235562 w 3628369"/>
                <a:gd name="connsiteY4" fmla="*/ 785612 h 785612"/>
                <a:gd name="connsiteX5" fmla="*/ 737322 w 3628369"/>
                <a:gd name="connsiteY5" fmla="*/ 785611 h 785612"/>
                <a:gd name="connsiteX6" fmla="*/ 678756 w 3628369"/>
                <a:gd name="connsiteY6" fmla="*/ 689204 h 785612"/>
                <a:gd name="connsiteX7" fmla="*/ 163929 w 3628369"/>
                <a:gd name="connsiteY7" fmla="*/ 122590 h 785612"/>
                <a:gd name="connsiteX8" fmla="*/ 0 w 3628369"/>
                <a:gd name="connsiteY8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8369" h="785612">
                  <a:moveTo>
                    <a:pt x="0" y="0"/>
                  </a:moveTo>
                  <a:lnTo>
                    <a:pt x="3235563" y="0"/>
                  </a:lnTo>
                  <a:cubicBezTo>
                    <a:pt x="3452504" y="0"/>
                    <a:pt x="3628369" y="175865"/>
                    <a:pt x="3628369" y="392806"/>
                  </a:cubicBezTo>
                  <a:lnTo>
                    <a:pt x="3628368" y="392806"/>
                  </a:lnTo>
                  <a:cubicBezTo>
                    <a:pt x="3628368" y="609747"/>
                    <a:pt x="3452503" y="785612"/>
                    <a:pt x="3235562" y="785612"/>
                  </a:cubicBezTo>
                  <a:lnTo>
                    <a:pt x="737322" y="785611"/>
                  </a:lnTo>
                  <a:lnTo>
                    <a:pt x="678756" y="689204"/>
                  </a:lnTo>
                  <a:cubicBezTo>
                    <a:pt x="535038" y="476461"/>
                    <a:pt x="361419" y="285580"/>
                    <a:pt x="163929" y="12259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Contexte</a:t>
              </a:r>
              <a:endParaRPr lang="fr-FR" dirty="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92247757-A2A1-59B0-C68A-9E021EA39FCD}"/>
                </a:ext>
              </a:extLst>
            </p:cNvPr>
            <p:cNvSpPr/>
            <p:nvPr/>
          </p:nvSpPr>
          <p:spPr>
            <a:xfrm>
              <a:off x="422858" y="3036193"/>
              <a:ext cx="3039454" cy="785612"/>
            </a:xfrm>
            <a:custGeom>
              <a:avLst/>
              <a:gdLst>
                <a:gd name="connsiteX0" fmla="*/ 392806 w 3039454"/>
                <a:gd name="connsiteY0" fmla="*/ 0 h 785612"/>
                <a:gd name="connsiteX1" fmla="*/ 3039454 w 3039454"/>
                <a:gd name="connsiteY1" fmla="*/ 0 h 785612"/>
                <a:gd name="connsiteX2" fmla="*/ 3021105 w 3039454"/>
                <a:gd name="connsiteY2" fmla="*/ 120230 h 785612"/>
                <a:gd name="connsiteX3" fmla="*/ 3007342 w 3039454"/>
                <a:gd name="connsiteY3" fmla="*/ 392806 h 785612"/>
                <a:gd name="connsiteX4" fmla="*/ 3021105 w 3039454"/>
                <a:gd name="connsiteY4" fmla="*/ 665382 h 785612"/>
                <a:gd name="connsiteX5" fmla="*/ 3039454 w 3039454"/>
                <a:gd name="connsiteY5" fmla="*/ 785612 h 785612"/>
                <a:gd name="connsiteX6" fmla="*/ 392806 w 3039454"/>
                <a:gd name="connsiteY6" fmla="*/ 785611 h 785612"/>
                <a:gd name="connsiteX7" fmla="*/ 7980 w 3039454"/>
                <a:gd name="connsiteY7" fmla="*/ 471969 h 785612"/>
                <a:gd name="connsiteX8" fmla="*/ 0 w 3039454"/>
                <a:gd name="connsiteY8" fmla="*/ 392805 h 785612"/>
                <a:gd name="connsiteX9" fmla="*/ 7980 w 3039454"/>
                <a:gd name="connsiteY9" fmla="*/ 313642 h 785612"/>
                <a:gd name="connsiteX10" fmla="*/ 392806 w 3039454"/>
                <a:gd name="connsiteY10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39454" h="785612">
                  <a:moveTo>
                    <a:pt x="392806" y="0"/>
                  </a:moveTo>
                  <a:lnTo>
                    <a:pt x="3039454" y="0"/>
                  </a:lnTo>
                  <a:lnTo>
                    <a:pt x="3021105" y="120230"/>
                  </a:lnTo>
                  <a:cubicBezTo>
                    <a:pt x="3012004" y="209851"/>
                    <a:pt x="3007342" y="300784"/>
                    <a:pt x="3007342" y="392806"/>
                  </a:cubicBezTo>
                  <a:cubicBezTo>
                    <a:pt x="3007342" y="484828"/>
                    <a:pt x="3012004" y="575761"/>
                    <a:pt x="3021105" y="665382"/>
                  </a:cubicBezTo>
                  <a:lnTo>
                    <a:pt x="3039454" y="785612"/>
                  </a:lnTo>
                  <a:lnTo>
                    <a:pt x="392806" y="785611"/>
                  </a:lnTo>
                  <a:cubicBezTo>
                    <a:pt x="202983" y="785611"/>
                    <a:pt x="44608" y="650964"/>
                    <a:pt x="7980" y="471969"/>
                  </a:cubicBezTo>
                  <a:lnTo>
                    <a:pt x="0" y="392805"/>
                  </a:lnTo>
                  <a:lnTo>
                    <a:pt x="7980" y="313642"/>
                  </a:lnTo>
                  <a:cubicBezTo>
                    <a:pt x="44608" y="134647"/>
                    <a:pt x="202983" y="0"/>
                    <a:pt x="392806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Recommandations</a:t>
              </a:r>
              <a:endParaRPr lang="fr-FR" dirty="0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D8F4DFB0-1C2F-A5D2-9EC4-D3254FC7F6E0}"/>
                </a:ext>
              </a:extLst>
            </p:cNvPr>
            <p:cNvSpPr/>
            <p:nvPr/>
          </p:nvSpPr>
          <p:spPr>
            <a:xfrm>
              <a:off x="8729688" y="3036193"/>
              <a:ext cx="3039456" cy="785612"/>
            </a:xfrm>
            <a:custGeom>
              <a:avLst/>
              <a:gdLst>
                <a:gd name="connsiteX0" fmla="*/ 0 w 3039456"/>
                <a:gd name="connsiteY0" fmla="*/ 0 h 785612"/>
                <a:gd name="connsiteX1" fmla="*/ 2646650 w 3039456"/>
                <a:gd name="connsiteY1" fmla="*/ 0 h 785612"/>
                <a:gd name="connsiteX2" fmla="*/ 3039456 w 3039456"/>
                <a:gd name="connsiteY2" fmla="*/ 392806 h 785612"/>
                <a:gd name="connsiteX3" fmla="*/ 3039455 w 3039456"/>
                <a:gd name="connsiteY3" fmla="*/ 392806 h 785612"/>
                <a:gd name="connsiteX4" fmla="*/ 2646649 w 3039456"/>
                <a:gd name="connsiteY4" fmla="*/ 785612 h 785612"/>
                <a:gd name="connsiteX5" fmla="*/ 0 w 3039456"/>
                <a:gd name="connsiteY5" fmla="*/ 785611 h 785612"/>
                <a:gd name="connsiteX6" fmla="*/ 18349 w 3039456"/>
                <a:gd name="connsiteY6" fmla="*/ 665382 h 785612"/>
                <a:gd name="connsiteX7" fmla="*/ 32112 w 3039456"/>
                <a:gd name="connsiteY7" fmla="*/ 392806 h 785612"/>
                <a:gd name="connsiteX8" fmla="*/ 18349 w 3039456"/>
                <a:gd name="connsiteY8" fmla="*/ 120230 h 785612"/>
                <a:gd name="connsiteX9" fmla="*/ 0 w 3039456"/>
                <a:gd name="connsiteY9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39456" h="785612">
                  <a:moveTo>
                    <a:pt x="0" y="0"/>
                  </a:moveTo>
                  <a:lnTo>
                    <a:pt x="2646650" y="0"/>
                  </a:lnTo>
                  <a:cubicBezTo>
                    <a:pt x="2863591" y="0"/>
                    <a:pt x="3039456" y="175865"/>
                    <a:pt x="3039456" y="392806"/>
                  </a:cubicBezTo>
                  <a:lnTo>
                    <a:pt x="3039455" y="392806"/>
                  </a:lnTo>
                  <a:cubicBezTo>
                    <a:pt x="3039455" y="609747"/>
                    <a:pt x="2863590" y="785612"/>
                    <a:pt x="2646649" y="785612"/>
                  </a:cubicBezTo>
                  <a:lnTo>
                    <a:pt x="0" y="785611"/>
                  </a:lnTo>
                  <a:lnTo>
                    <a:pt x="18349" y="665382"/>
                  </a:lnTo>
                  <a:cubicBezTo>
                    <a:pt x="27450" y="575761"/>
                    <a:pt x="32112" y="484828"/>
                    <a:pt x="32112" y="392806"/>
                  </a:cubicBezTo>
                  <a:cubicBezTo>
                    <a:pt x="32112" y="300784"/>
                    <a:pt x="27450" y="209851"/>
                    <a:pt x="18349" y="1202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Méthodologie de collecte</a:t>
              </a:r>
              <a:endParaRPr lang="fr-FR" dirty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92424542-D6BC-C704-AFE2-62815A39558B}"/>
                </a:ext>
              </a:extLst>
            </p:cNvPr>
            <p:cNvSpPr/>
            <p:nvPr/>
          </p:nvSpPr>
          <p:spPr>
            <a:xfrm>
              <a:off x="935866" y="4823137"/>
              <a:ext cx="3628368" cy="785612"/>
            </a:xfrm>
            <a:custGeom>
              <a:avLst/>
              <a:gdLst>
                <a:gd name="connsiteX0" fmla="*/ 392806 w 3628368"/>
                <a:gd name="connsiteY0" fmla="*/ 0 h 785612"/>
                <a:gd name="connsiteX1" fmla="*/ 2891045 w 3628368"/>
                <a:gd name="connsiteY1" fmla="*/ 0 h 785612"/>
                <a:gd name="connsiteX2" fmla="*/ 2949611 w 3628368"/>
                <a:gd name="connsiteY2" fmla="*/ 96407 h 785612"/>
                <a:gd name="connsiteX3" fmla="*/ 3464438 w 3628368"/>
                <a:gd name="connsiteY3" fmla="*/ 663021 h 785612"/>
                <a:gd name="connsiteX4" fmla="*/ 3628368 w 3628368"/>
                <a:gd name="connsiteY4" fmla="*/ 785612 h 785612"/>
                <a:gd name="connsiteX5" fmla="*/ 392806 w 3628368"/>
                <a:gd name="connsiteY5" fmla="*/ 785611 h 785612"/>
                <a:gd name="connsiteX6" fmla="*/ 7980 w 3628368"/>
                <a:gd name="connsiteY6" fmla="*/ 471969 h 785612"/>
                <a:gd name="connsiteX7" fmla="*/ 0 w 3628368"/>
                <a:gd name="connsiteY7" fmla="*/ 392806 h 785612"/>
                <a:gd name="connsiteX8" fmla="*/ 7980 w 3628368"/>
                <a:gd name="connsiteY8" fmla="*/ 313642 h 785612"/>
                <a:gd name="connsiteX9" fmla="*/ 392806 w 3628368"/>
                <a:gd name="connsiteY9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28368" h="785612">
                  <a:moveTo>
                    <a:pt x="392806" y="0"/>
                  </a:moveTo>
                  <a:lnTo>
                    <a:pt x="2891045" y="0"/>
                  </a:lnTo>
                  <a:lnTo>
                    <a:pt x="2949611" y="96407"/>
                  </a:lnTo>
                  <a:cubicBezTo>
                    <a:pt x="3093330" y="309150"/>
                    <a:pt x="3266949" y="500031"/>
                    <a:pt x="3464438" y="663021"/>
                  </a:cubicBezTo>
                  <a:lnTo>
                    <a:pt x="3628368" y="785612"/>
                  </a:lnTo>
                  <a:lnTo>
                    <a:pt x="392806" y="785611"/>
                  </a:lnTo>
                  <a:cubicBezTo>
                    <a:pt x="202983" y="785611"/>
                    <a:pt x="44608" y="650965"/>
                    <a:pt x="7980" y="471969"/>
                  </a:cubicBezTo>
                  <a:lnTo>
                    <a:pt x="0" y="392806"/>
                  </a:lnTo>
                  <a:lnTo>
                    <a:pt x="7980" y="313642"/>
                  </a:lnTo>
                  <a:cubicBezTo>
                    <a:pt x="44608" y="134647"/>
                    <a:pt x="202983" y="0"/>
                    <a:pt x="392806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Analyses</a:t>
              </a:r>
              <a:endParaRPr lang="fr-FR" dirty="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1A26BECD-013E-510F-0A77-C44223F96D0C}"/>
                </a:ext>
              </a:extLst>
            </p:cNvPr>
            <p:cNvSpPr/>
            <p:nvPr/>
          </p:nvSpPr>
          <p:spPr>
            <a:xfrm>
              <a:off x="7627768" y="4823137"/>
              <a:ext cx="3628369" cy="785612"/>
            </a:xfrm>
            <a:custGeom>
              <a:avLst/>
              <a:gdLst>
                <a:gd name="connsiteX0" fmla="*/ 737322 w 3628369"/>
                <a:gd name="connsiteY0" fmla="*/ 0 h 785612"/>
                <a:gd name="connsiteX1" fmla="*/ 3235563 w 3628369"/>
                <a:gd name="connsiteY1" fmla="*/ 0 h 785612"/>
                <a:gd name="connsiteX2" fmla="*/ 3628369 w 3628369"/>
                <a:gd name="connsiteY2" fmla="*/ 392806 h 785612"/>
                <a:gd name="connsiteX3" fmla="*/ 3628368 w 3628369"/>
                <a:gd name="connsiteY3" fmla="*/ 392806 h 785612"/>
                <a:gd name="connsiteX4" fmla="*/ 3235562 w 3628369"/>
                <a:gd name="connsiteY4" fmla="*/ 785612 h 785612"/>
                <a:gd name="connsiteX5" fmla="*/ 0 w 3628369"/>
                <a:gd name="connsiteY5" fmla="*/ 785611 h 785612"/>
                <a:gd name="connsiteX6" fmla="*/ 163929 w 3628369"/>
                <a:gd name="connsiteY6" fmla="*/ 663021 h 785612"/>
                <a:gd name="connsiteX7" fmla="*/ 678756 w 3628369"/>
                <a:gd name="connsiteY7" fmla="*/ 96407 h 785612"/>
                <a:gd name="connsiteX8" fmla="*/ 737322 w 3628369"/>
                <a:gd name="connsiteY8" fmla="*/ 0 h 78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8369" h="785612">
                  <a:moveTo>
                    <a:pt x="737322" y="0"/>
                  </a:moveTo>
                  <a:lnTo>
                    <a:pt x="3235563" y="0"/>
                  </a:lnTo>
                  <a:cubicBezTo>
                    <a:pt x="3452504" y="0"/>
                    <a:pt x="3628369" y="175865"/>
                    <a:pt x="3628369" y="392806"/>
                  </a:cubicBezTo>
                  <a:lnTo>
                    <a:pt x="3628368" y="392806"/>
                  </a:lnTo>
                  <a:cubicBezTo>
                    <a:pt x="3628368" y="609747"/>
                    <a:pt x="3452503" y="785612"/>
                    <a:pt x="3235562" y="785612"/>
                  </a:cubicBezTo>
                  <a:lnTo>
                    <a:pt x="0" y="785611"/>
                  </a:lnTo>
                  <a:lnTo>
                    <a:pt x="163929" y="663021"/>
                  </a:lnTo>
                  <a:cubicBezTo>
                    <a:pt x="361419" y="500031"/>
                    <a:pt x="535038" y="309150"/>
                    <a:pt x="678756" y="96407"/>
                  </a:cubicBezTo>
                  <a:lnTo>
                    <a:pt x="737322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CH" dirty="0"/>
                <a:t>Traitements</a:t>
              </a:r>
              <a:endParaRPr lang="fr-FR" dirty="0"/>
            </a:p>
          </p:txBody>
        </p:sp>
      </p:grpSp>
      <p:pic>
        <p:nvPicPr>
          <p:cNvPr id="17" name="Image 1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CC303046-6C12-AEA5-E66B-5B7DC5511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0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CEB8C-9FEB-D6EF-2BD9-31600E90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445975-4DEE-5951-8381-54833B5977F7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0345E-3212-F02B-D48C-6BE4F185C923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E36A7D8-840D-6268-93C0-DC4600278E88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Contexte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19" name="Image 18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5A04C989-A860-D657-9E41-8F85AD648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09776B4F-901B-9A1F-8998-2686B78D8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0" r="7710"/>
          <a:stretch/>
        </p:blipFill>
        <p:spPr>
          <a:xfrm>
            <a:off x="9196868" y="1538919"/>
            <a:ext cx="1866900" cy="1655439"/>
          </a:xfrm>
          <a:prstGeom prst="rect">
            <a:avLst/>
          </a:prstGeom>
        </p:spPr>
      </p:pic>
      <p:pic>
        <p:nvPicPr>
          <p:cNvPr id="22" name="Graphique 21" descr="Mille avec un remplissage uni">
            <a:extLst>
              <a:ext uri="{FF2B5EF4-FFF2-40B4-BE49-F238E27FC236}">
                <a16:creationId xmlns:a16="http://schemas.microsoft.com/office/drawing/2014/main" id="{7C064DF3-DBEB-2FEE-FAAF-73F808D96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232" y="1474960"/>
            <a:ext cx="1662694" cy="1660796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0F55641E-42A1-6BB8-FE25-EC7A2A52A0FD}"/>
              </a:ext>
            </a:extLst>
          </p:cNvPr>
          <p:cNvSpPr txBox="1"/>
          <p:nvPr/>
        </p:nvSpPr>
        <p:spPr>
          <a:xfrm>
            <a:off x="3963044" y="1891072"/>
            <a:ext cx="45239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Evaluation de la possibilité </a:t>
            </a:r>
          </a:p>
          <a:p>
            <a:r>
              <a:rPr lang="fr-CH" dirty="0"/>
              <a:t>d’un développement de nos activités </a:t>
            </a:r>
          </a:p>
          <a:p>
            <a:r>
              <a:rPr lang="fr-CH" dirty="0"/>
              <a:t>à l’international</a:t>
            </a:r>
            <a:endParaRPr lang="fr-FR" dirty="0"/>
          </a:p>
        </p:txBody>
      </p:sp>
      <p:pic>
        <p:nvPicPr>
          <p:cNvPr id="25" name="Image 24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F69B990F-9512-A22D-E139-75E114DB07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79" y="4076460"/>
            <a:ext cx="2217600" cy="1663200"/>
          </a:xfrm>
          <a:prstGeom prst="rect">
            <a:avLst/>
          </a:prstGeom>
          <a:solidFill>
            <a:srgbClr val="000000">
              <a:alpha val="90000"/>
            </a:srgbClr>
          </a:solidFill>
          <a:ln w="17264" cap="flat">
            <a:noFill/>
            <a:prstDash val="solid"/>
            <a:miter/>
          </a:ln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EEEDF7E5-4BA3-4DB8-2819-5C9B0B80DE31}"/>
              </a:ext>
            </a:extLst>
          </p:cNvPr>
          <p:cNvSpPr txBox="1"/>
          <p:nvPr/>
        </p:nvSpPr>
        <p:spPr>
          <a:xfrm>
            <a:off x="3963043" y="4584894"/>
            <a:ext cx="3605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Proposer différents pays pour</a:t>
            </a:r>
          </a:p>
          <a:p>
            <a:r>
              <a:rPr lang="fr-CH" dirty="0"/>
              <a:t>l’exportation de nos produits</a:t>
            </a:r>
            <a:endParaRPr lang="fr-FR" dirty="0"/>
          </a:p>
        </p:txBody>
      </p:sp>
      <p:pic>
        <p:nvPicPr>
          <p:cNvPr id="28" name="Image 27" descr="Une image contenant carte, Monde, atlas, texte&#10;&#10;Le contenu généré par l’IA peut être incorrect.">
            <a:extLst>
              <a:ext uri="{FF2B5EF4-FFF2-40B4-BE49-F238E27FC236}">
                <a16:creationId xmlns:a16="http://schemas.microsoft.com/office/drawing/2014/main" id="{D9A17551-84C0-C88B-8085-E87121BBC3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623" y="4408187"/>
            <a:ext cx="1865376" cy="99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8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FDCC-4BDC-88DD-137F-D8A6E40E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1338A1-35BB-9DA0-B8D5-BC945BD94ED0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797100-CE58-5649-E8B7-AFE12C0ACAF0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074E391-003F-BCB7-D45A-12B2984C8B52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Méthodologie de collecte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D66D859-55F8-F454-8688-9E5D116ED18A}"/>
              </a:ext>
            </a:extLst>
          </p:cNvPr>
          <p:cNvSpPr txBox="1"/>
          <p:nvPr/>
        </p:nvSpPr>
        <p:spPr>
          <a:xfrm>
            <a:off x="899387" y="1059771"/>
            <a:ext cx="4493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Choix des différents sources de données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 5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BCA5929A-EF71-77C9-A68F-CB7F6AA89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87E60FF-CBC4-2EAC-3539-C486B0E2B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12612" y="904214"/>
            <a:ext cx="1080000" cy="648000"/>
          </a:xfrm>
          <a:prstGeom prst="rect">
            <a:avLst/>
          </a:prstGeom>
        </p:spPr>
      </p:pic>
      <p:pic>
        <p:nvPicPr>
          <p:cNvPr id="9" name="Image 8" descr="Une image contenant texte, Police, logo, conception&#10;&#10;Le contenu généré par l’IA peut être incorrect.">
            <a:extLst>
              <a:ext uri="{FF2B5EF4-FFF2-40B4-BE49-F238E27FC236}">
                <a16:creationId xmlns:a16="http://schemas.microsoft.com/office/drawing/2014/main" id="{24AF100A-FC0F-8046-CF9A-BDB9062B8E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7" y="1923840"/>
            <a:ext cx="3810000" cy="1905000"/>
          </a:xfrm>
          <a:prstGeom prst="rect">
            <a:avLst/>
          </a:prstGeom>
        </p:spPr>
      </p:pic>
      <p:pic>
        <p:nvPicPr>
          <p:cNvPr id="11" name="Image 10" descr="Une image contenant logo, Graphique, Police, symbole&#10;&#10;Le contenu généré par l’IA peut être incorrect.">
            <a:extLst>
              <a:ext uri="{FF2B5EF4-FFF2-40B4-BE49-F238E27FC236}">
                <a16:creationId xmlns:a16="http://schemas.microsoft.com/office/drawing/2014/main" id="{F228F0A5-7C45-9666-09F7-87ED4CF678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87" y="3950379"/>
            <a:ext cx="2466975" cy="184785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CDAE886-05A7-7F39-6D80-EC63CE04E2FA}"/>
              </a:ext>
            </a:extLst>
          </p:cNvPr>
          <p:cNvSpPr txBox="1"/>
          <p:nvPr/>
        </p:nvSpPr>
        <p:spPr>
          <a:xfrm>
            <a:off x="6799074" y="2619517"/>
            <a:ext cx="43428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Disponibilité alimentaire actualisée 2022</a:t>
            </a:r>
          </a:p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Stabilité politique 2022</a:t>
            </a:r>
          </a:p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Revenus des habitants 2022</a:t>
            </a:r>
          </a:p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AD4F38C-ADAE-4F3B-6EF4-5E17539C542A}"/>
              </a:ext>
            </a:extLst>
          </p:cNvPr>
          <p:cNvSpPr txBox="1"/>
          <p:nvPr/>
        </p:nvSpPr>
        <p:spPr>
          <a:xfrm>
            <a:off x="6799074" y="4698218"/>
            <a:ext cx="24320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Indice logistique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2022</a:t>
            </a:r>
            <a:endParaRPr lang="fr-CH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27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73514-5E33-B2A4-DFF4-512197773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F55CCC-0F76-AE82-96D8-C45303E4C9E4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6C9D21-58AB-86B6-3109-899154F6628F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916BC98-4B94-457F-B679-FE3FE58AE5F3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Méthodologie de collecte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AAFDFC-5D68-FCB5-C8E1-CAAA9AFFE4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387" y="1923840"/>
            <a:ext cx="10393225" cy="301032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C6F23D0-B11A-9BAF-1379-0495E6475F21}"/>
              </a:ext>
            </a:extLst>
          </p:cNvPr>
          <p:cNvSpPr txBox="1"/>
          <p:nvPr/>
        </p:nvSpPr>
        <p:spPr>
          <a:xfrm>
            <a:off x="899387" y="1059771"/>
            <a:ext cx="72234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Choix des différents indicateurs en fonction de la méthode PESTEL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3B960C38-4375-3833-2DF2-0FC1B91BB5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pic>
        <p:nvPicPr>
          <p:cNvPr id="9" name="Image 8" descr="Une image contenant jouet&#10;&#10;Le contenu généré par l’IA peut être incorrect.">
            <a:extLst>
              <a:ext uri="{FF2B5EF4-FFF2-40B4-BE49-F238E27FC236}">
                <a16:creationId xmlns:a16="http://schemas.microsoft.com/office/drawing/2014/main" id="{639B87F5-C675-5307-C6F1-38467A7B90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612" y="68821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4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2010C-38AB-F592-177A-389A4ABF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18A8E6-1F83-C6CF-69D3-B31C210560B6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305793-A3F3-1E6A-9C28-59BCABB388D4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CF347B3-29EE-2E09-C411-4703AE846735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Traitements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1A94FCB1-8710-3DB6-861C-218C2CB266F5}"/>
              </a:ext>
            </a:extLst>
          </p:cNvPr>
          <p:cNvSpPr/>
          <p:nvPr/>
        </p:nvSpPr>
        <p:spPr>
          <a:xfrm>
            <a:off x="2062363" y="1387037"/>
            <a:ext cx="2177401" cy="1156989"/>
          </a:xfrm>
          <a:custGeom>
            <a:avLst/>
            <a:gdLst>
              <a:gd name="connsiteX0" fmla="*/ 0 w 2177401"/>
              <a:gd name="connsiteY0" fmla="*/ 192835 h 1156989"/>
              <a:gd name="connsiteX1" fmla="*/ 192835 w 2177401"/>
              <a:gd name="connsiteY1" fmla="*/ 0 h 1156989"/>
              <a:gd name="connsiteX2" fmla="*/ 1984566 w 2177401"/>
              <a:gd name="connsiteY2" fmla="*/ 0 h 1156989"/>
              <a:gd name="connsiteX3" fmla="*/ 2177401 w 2177401"/>
              <a:gd name="connsiteY3" fmla="*/ 192835 h 1156989"/>
              <a:gd name="connsiteX4" fmla="*/ 2177401 w 2177401"/>
              <a:gd name="connsiteY4" fmla="*/ 964154 h 1156989"/>
              <a:gd name="connsiteX5" fmla="*/ 1984566 w 2177401"/>
              <a:gd name="connsiteY5" fmla="*/ 1156989 h 1156989"/>
              <a:gd name="connsiteX6" fmla="*/ 192835 w 2177401"/>
              <a:gd name="connsiteY6" fmla="*/ 1156989 h 1156989"/>
              <a:gd name="connsiteX7" fmla="*/ 0 w 2177401"/>
              <a:gd name="connsiteY7" fmla="*/ 964154 h 1156989"/>
              <a:gd name="connsiteX8" fmla="*/ 0 w 2177401"/>
              <a:gd name="connsiteY8" fmla="*/ 192835 h 115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7401" h="1156989">
                <a:moveTo>
                  <a:pt x="0" y="192835"/>
                </a:moveTo>
                <a:cubicBezTo>
                  <a:pt x="0" y="86335"/>
                  <a:pt x="86335" y="0"/>
                  <a:pt x="192835" y="0"/>
                </a:cubicBezTo>
                <a:lnTo>
                  <a:pt x="1984566" y="0"/>
                </a:lnTo>
                <a:cubicBezTo>
                  <a:pt x="2091066" y="0"/>
                  <a:pt x="2177401" y="86335"/>
                  <a:pt x="2177401" y="192835"/>
                </a:cubicBezTo>
                <a:lnTo>
                  <a:pt x="2177401" y="964154"/>
                </a:lnTo>
                <a:cubicBezTo>
                  <a:pt x="2177401" y="1070654"/>
                  <a:pt x="2091066" y="1156989"/>
                  <a:pt x="1984566" y="1156989"/>
                </a:cubicBezTo>
                <a:lnTo>
                  <a:pt x="192835" y="1156989"/>
                </a:lnTo>
                <a:cubicBezTo>
                  <a:pt x="86335" y="1156989"/>
                  <a:pt x="0" y="1070654"/>
                  <a:pt x="0" y="964154"/>
                </a:cubicBezTo>
                <a:lnTo>
                  <a:pt x="0" y="192835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40" tIns="117440" rIns="117440" bIns="11744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H" sz="1600" kern="1200" dirty="0">
                <a:latin typeface="Montserrat" pitchFamily="2" charset="0"/>
              </a:rPr>
              <a:t>Chargement des données</a:t>
            </a:r>
            <a:endParaRPr lang="fr-FR" sz="1600" kern="1200" dirty="0">
              <a:latin typeface="Montserrat" pitchFamily="2" charset="0"/>
            </a:endParaRP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C6FBF89A-D423-01E9-B69C-E049BEFE52E3}"/>
              </a:ext>
            </a:extLst>
          </p:cNvPr>
          <p:cNvSpPr/>
          <p:nvPr/>
        </p:nvSpPr>
        <p:spPr>
          <a:xfrm>
            <a:off x="2062363" y="3117205"/>
            <a:ext cx="2177401" cy="1156989"/>
          </a:xfrm>
          <a:custGeom>
            <a:avLst/>
            <a:gdLst>
              <a:gd name="connsiteX0" fmla="*/ 0 w 2177401"/>
              <a:gd name="connsiteY0" fmla="*/ 192835 h 1156989"/>
              <a:gd name="connsiteX1" fmla="*/ 192835 w 2177401"/>
              <a:gd name="connsiteY1" fmla="*/ 0 h 1156989"/>
              <a:gd name="connsiteX2" fmla="*/ 1984566 w 2177401"/>
              <a:gd name="connsiteY2" fmla="*/ 0 h 1156989"/>
              <a:gd name="connsiteX3" fmla="*/ 2177401 w 2177401"/>
              <a:gd name="connsiteY3" fmla="*/ 192835 h 1156989"/>
              <a:gd name="connsiteX4" fmla="*/ 2177401 w 2177401"/>
              <a:gd name="connsiteY4" fmla="*/ 964154 h 1156989"/>
              <a:gd name="connsiteX5" fmla="*/ 1984566 w 2177401"/>
              <a:gd name="connsiteY5" fmla="*/ 1156989 h 1156989"/>
              <a:gd name="connsiteX6" fmla="*/ 192835 w 2177401"/>
              <a:gd name="connsiteY6" fmla="*/ 1156989 h 1156989"/>
              <a:gd name="connsiteX7" fmla="*/ 0 w 2177401"/>
              <a:gd name="connsiteY7" fmla="*/ 964154 h 1156989"/>
              <a:gd name="connsiteX8" fmla="*/ 0 w 2177401"/>
              <a:gd name="connsiteY8" fmla="*/ 192835 h 115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7401" h="1156989">
                <a:moveTo>
                  <a:pt x="0" y="192835"/>
                </a:moveTo>
                <a:cubicBezTo>
                  <a:pt x="0" y="86335"/>
                  <a:pt x="86335" y="0"/>
                  <a:pt x="192835" y="0"/>
                </a:cubicBezTo>
                <a:lnTo>
                  <a:pt x="1984566" y="0"/>
                </a:lnTo>
                <a:cubicBezTo>
                  <a:pt x="2091066" y="0"/>
                  <a:pt x="2177401" y="86335"/>
                  <a:pt x="2177401" y="192835"/>
                </a:cubicBezTo>
                <a:lnTo>
                  <a:pt x="2177401" y="964154"/>
                </a:lnTo>
                <a:cubicBezTo>
                  <a:pt x="2177401" y="1070654"/>
                  <a:pt x="2091066" y="1156989"/>
                  <a:pt x="1984566" y="1156989"/>
                </a:cubicBezTo>
                <a:lnTo>
                  <a:pt x="192835" y="1156989"/>
                </a:lnTo>
                <a:cubicBezTo>
                  <a:pt x="86335" y="1156989"/>
                  <a:pt x="0" y="1070654"/>
                  <a:pt x="0" y="964154"/>
                </a:cubicBezTo>
                <a:lnTo>
                  <a:pt x="0" y="19283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40" tIns="117440" rIns="117440" bIns="11744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H" sz="1600" kern="1200" dirty="0">
                <a:solidFill>
                  <a:prstClr val="white"/>
                </a:solidFill>
                <a:latin typeface="Montserrat"/>
                <a:ea typeface="+mn-ea"/>
                <a:cs typeface="+mn-cs"/>
              </a:rPr>
              <a:t>Exploration</a:t>
            </a:r>
            <a:r>
              <a:rPr lang="fr-CH" sz="1600" kern="1200" dirty="0"/>
              <a:t> </a:t>
            </a:r>
            <a:r>
              <a:rPr lang="fr-CH" sz="1600" kern="1200" dirty="0">
                <a:latin typeface="Montserrat" pitchFamily="2" charset="0"/>
              </a:rPr>
              <a:t>initiale</a:t>
            </a:r>
            <a:endParaRPr lang="fr-FR" sz="1600" kern="1200" dirty="0">
              <a:latin typeface="Montserrat" pitchFamily="2" charset="0"/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31B9BCC0-644C-83D3-6496-2C4D6386ABA5}"/>
              </a:ext>
            </a:extLst>
          </p:cNvPr>
          <p:cNvSpPr/>
          <p:nvPr/>
        </p:nvSpPr>
        <p:spPr>
          <a:xfrm>
            <a:off x="2062363" y="4847374"/>
            <a:ext cx="2177401" cy="1156989"/>
          </a:xfrm>
          <a:custGeom>
            <a:avLst/>
            <a:gdLst>
              <a:gd name="connsiteX0" fmla="*/ 0 w 2177401"/>
              <a:gd name="connsiteY0" fmla="*/ 192835 h 1156989"/>
              <a:gd name="connsiteX1" fmla="*/ 192835 w 2177401"/>
              <a:gd name="connsiteY1" fmla="*/ 0 h 1156989"/>
              <a:gd name="connsiteX2" fmla="*/ 1984566 w 2177401"/>
              <a:gd name="connsiteY2" fmla="*/ 0 h 1156989"/>
              <a:gd name="connsiteX3" fmla="*/ 2177401 w 2177401"/>
              <a:gd name="connsiteY3" fmla="*/ 192835 h 1156989"/>
              <a:gd name="connsiteX4" fmla="*/ 2177401 w 2177401"/>
              <a:gd name="connsiteY4" fmla="*/ 964154 h 1156989"/>
              <a:gd name="connsiteX5" fmla="*/ 1984566 w 2177401"/>
              <a:gd name="connsiteY5" fmla="*/ 1156989 h 1156989"/>
              <a:gd name="connsiteX6" fmla="*/ 192835 w 2177401"/>
              <a:gd name="connsiteY6" fmla="*/ 1156989 h 1156989"/>
              <a:gd name="connsiteX7" fmla="*/ 0 w 2177401"/>
              <a:gd name="connsiteY7" fmla="*/ 964154 h 1156989"/>
              <a:gd name="connsiteX8" fmla="*/ 0 w 2177401"/>
              <a:gd name="connsiteY8" fmla="*/ 192835 h 115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7401" h="1156989">
                <a:moveTo>
                  <a:pt x="0" y="192835"/>
                </a:moveTo>
                <a:cubicBezTo>
                  <a:pt x="0" y="86335"/>
                  <a:pt x="86335" y="0"/>
                  <a:pt x="192835" y="0"/>
                </a:cubicBezTo>
                <a:lnTo>
                  <a:pt x="1984566" y="0"/>
                </a:lnTo>
                <a:cubicBezTo>
                  <a:pt x="2091066" y="0"/>
                  <a:pt x="2177401" y="86335"/>
                  <a:pt x="2177401" y="192835"/>
                </a:cubicBezTo>
                <a:lnTo>
                  <a:pt x="2177401" y="964154"/>
                </a:lnTo>
                <a:cubicBezTo>
                  <a:pt x="2177401" y="1070654"/>
                  <a:pt x="2091066" y="1156989"/>
                  <a:pt x="1984566" y="1156989"/>
                </a:cubicBezTo>
                <a:lnTo>
                  <a:pt x="192835" y="1156989"/>
                </a:lnTo>
                <a:cubicBezTo>
                  <a:pt x="86335" y="1156989"/>
                  <a:pt x="0" y="1070654"/>
                  <a:pt x="0" y="964154"/>
                </a:cubicBezTo>
                <a:lnTo>
                  <a:pt x="0" y="192835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060" tIns="125060" rIns="125060" bIns="1250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H" sz="1600" kern="1200" dirty="0">
                <a:latin typeface="Montserrat" pitchFamily="2" charset="0"/>
              </a:rPr>
              <a:t>Nettoyage/</a:t>
            </a:r>
            <a:br>
              <a:rPr lang="fr-CH" sz="1600" kern="1200" dirty="0">
                <a:latin typeface="Montserrat" pitchFamily="2" charset="0"/>
              </a:rPr>
            </a:br>
            <a:r>
              <a:rPr lang="fr-CH" sz="1600" kern="1200" dirty="0">
                <a:latin typeface="Montserrat" pitchFamily="2" charset="0"/>
              </a:rPr>
              <a:t>Transformation des </a:t>
            </a:r>
            <a:r>
              <a:rPr lang="fr-CH" sz="1600" kern="1200" dirty="0">
                <a:solidFill>
                  <a:prstClr val="white"/>
                </a:solidFill>
                <a:latin typeface="Montserrat" pitchFamily="2" charset="0"/>
              </a:rPr>
              <a:t>données</a:t>
            </a:r>
            <a:endParaRPr lang="fr-FR" sz="1600" kern="1200" dirty="0">
              <a:solidFill>
                <a:prstClr val="white"/>
              </a:solidFill>
              <a:latin typeface="Montserrat" pitchFamily="2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66F8841-A64C-7F85-A981-1F297DEF1409}"/>
              </a:ext>
            </a:extLst>
          </p:cNvPr>
          <p:cNvCxnSpPr>
            <a:cxnSpLocks/>
          </p:cNvCxnSpPr>
          <p:nvPr/>
        </p:nvCxnSpPr>
        <p:spPr>
          <a:xfrm>
            <a:off x="3095625" y="2544026"/>
            <a:ext cx="0" cy="5731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3FB0CD6-9E75-9CF2-C0F6-2A9872D4051A}"/>
              </a:ext>
            </a:extLst>
          </p:cNvPr>
          <p:cNvCxnSpPr>
            <a:cxnSpLocks/>
          </p:cNvCxnSpPr>
          <p:nvPr/>
        </p:nvCxnSpPr>
        <p:spPr>
          <a:xfrm>
            <a:off x="3105150" y="4274195"/>
            <a:ext cx="0" cy="5731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92E0A5C-FC6B-2568-50FC-A2454A743254}"/>
              </a:ext>
            </a:extLst>
          </p:cNvPr>
          <p:cNvSpPr/>
          <p:nvPr/>
        </p:nvSpPr>
        <p:spPr>
          <a:xfrm>
            <a:off x="6438899" y="1387036"/>
            <a:ext cx="5000625" cy="1156989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C6F7F08-D01D-A146-17AB-CA5E2F925458}"/>
              </a:ext>
            </a:extLst>
          </p:cNvPr>
          <p:cNvSpPr txBox="1"/>
          <p:nvPr/>
        </p:nvSpPr>
        <p:spPr>
          <a:xfrm>
            <a:off x="6586536" y="1455227"/>
            <a:ext cx="47244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DisponibiliteAlimentaire_2022.csv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PIB_Revenu_2022.csv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Stabilité_politique_2022.csv	Notebook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Population_2022.csv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Indice_logistique_1960_2023.csv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11FE21D-18C8-DD5F-AC3F-839350675AC7}"/>
              </a:ext>
            </a:extLst>
          </p:cNvPr>
          <p:cNvSpPr/>
          <p:nvPr/>
        </p:nvSpPr>
        <p:spPr>
          <a:xfrm>
            <a:off x="6448424" y="3117205"/>
            <a:ext cx="5000625" cy="1156989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ACDD60F-470E-8866-8242-C7A9A81712A8}"/>
              </a:ext>
            </a:extLst>
          </p:cNvPr>
          <p:cNvSpPr txBox="1"/>
          <p:nvPr/>
        </p:nvSpPr>
        <p:spPr>
          <a:xfrm>
            <a:off x="6577011" y="3181587"/>
            <a:ext cx="47244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H" sz="13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Type de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Dimensions des </a:t>
            </a:r>
            <a:r>
              <a:rPr lang="fr-CH" sz="1300" dirty="0" err="1">
                <a:latin typeface="Montserrat" pitchFamily="2" charset="0"/>
              </a:rPr>
              <a:t>dataframes</a:t>
            </a:r>
            <a:endParaRPr lang="fr-CH" sz="1300" dirty="0">
              <a:latin typeface="Montserrat" pitchFamily="2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295441A-7FF6-0B19-4907-A8F58C036D40}"/>
              </a:ext>
            </a:extLst>
          </p:cNvPr>
          <p:cNvGrpSpPr/>
          <p:nvPr/>
        </p:nvGrpSpPr>
        <p:grpSpPr>
          <a:xfrm>
            <a:off x="6457949" y="4846333"/>
            <a:ext cx="5000625" cy="1156989"/>
            <a:chOff x="6438899" y="1387036"/>
            <a:chExt cx="5000625" cy="1156989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BAE0C897-71A1-E7AD-091C-6C15A455B5BA}"/>
                </a:ext>
              </a:extLst>
            </p:cNvPr>
            <p:cNvSpPr/>
            <p:nvPr/>
          </p:nvSpPr>
          <p:spPr>
            <a:xfrm>
              <a:off x="6438899" y="1387036"/>
              <a:ext cx="5000625" cy="1156989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D2B99AF2-675A-B9DC-3497-996AA5B710AF}"/>
                </a:ext>
              </a:extLst>
            </p:cNvPr>
            <p:cNvSpPr txBox="1"/>
            <p:nvPr/>
          </p:nvSpPr>
          <p:spPr>
            <a:xfrm>
              <a:off x="6557961" y="1697254"/>
              <a:ext cx="4724400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H" sz="1300" dirty="0">
                  <a:latin typeface="Montserrat" pitchFamily="2" charset="0"/>
                </a:rPr>
                <a:t>Calcul des indicateurs, si nécessaire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H" sz="1300" dirty="0">
                  <a:latin typeface="Montserrat" pitchFamily="2" charset="0"/>
                </a:rPr>
                <a:t>Suppression des pays avec données manquantes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H" sz="1300" dirty="0">
                  <a:latin typeface="Montserrat" pitchFamily="2" charset="0"/>
                </a:rPr>
                <a:t>Contrôle des doublons, valeurs uniques (pays)</a:t>
              </a:r>
            </a:p>
          </p:txBody>
        </p:sp>
      </p:grpSp>
      <p:pic>
        <p:nvPicPr>
          <p:cNvPr id="16" name="Image 15" descr="Une image contenant clipart, symbole, Graphique, dessin humoristique&#10;&#10;Description générée automatiquement">
            <a:extLst>
              <a:ext uri="{FF2B5EF4-FFF2-40B4-BE49-F238E27FC236}">
                <a16:creationId xmlns:a16="http://schemas.microsoft.com/office/drawing/2014/main" id="{67534B48-7E2B-D131-85A8-46C7750ED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334" y="1280277"/>
            <a:ext cx="1370505" cy="1370505"/>
          </a:xfrm>
          <a:prstGeom prst="rect">
            <a:avLst/>
          </a:prstGeom>
        </p:spPr>
      </p:pic>
      <p:pic>
        <p:nvPicPr>
          <p:cNvPr id="19" name="Image 18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314AB138-EF56-12D5-381B-4C2BE4BEE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2C1C7A5A-D13E-8DA2-1823-DD4F32AF9405}"/>
              </a:ext>
            </a:extLst>
          </p:cNvPr>
          <p:cNvCxnSpPr>
            <a:cxnSpLocks/>
          </p:cNvCxnSpPr>
          <p:nvPr/>
        </p:nvCxnSpPr>
        <p:spPr>
          <a:xfrm>
            <a:off x="3114675" y="6004363"/>
            <a:ext cx="0" cy="85363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51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8054-53C1-D183-0C3A-7DC9FAFC1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689ACFB-22A4-CB70-A6AA-87E22AEE6953}"/>
              </a:ext>
            </a:extLst>
          </p:cNvPr>
          <p:cNvCxnSpPr>
            <a:cxnSpLocks/>
          </p:cNvCxnSpPr>
          <p:nvPr/>
        </p:nvCxnSpPr>
        <p:spPr>
          <a:xfrm>
            <a:off x="3105150" y="0"/>
            <a:ext cx="0" cy="195853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3C43F88-4100-80BA-E444-DE147C54946C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42EDC3-FFFF-FA02-6B94-BA41EDED3758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4844B42-F642-272B-CF2D-2C2D3804BA34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Traitements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59E67BB0-AA99-1A17-404C-6167E0707CAE}"/>
              </a:ext>
            </a:extLst>
          </p:cNvPr>
          <p:cNvSpPr/>
          <p:nvPr/>
        </p:nvSpPr>
        <p:spPr>
          <a:xfrm>
            <a:off x="2062363" y="1958536"/>
            <a:ext cx="2177401" cy="1156989"/>
          </a:xfrm>
          <a:custGeom>
            <a:avLst/>
            <a:gdLst>
              <a:gd name="connsiteX0" fmla="*/ 0 w 2177401"/>
              <a:gd name="connsiteY0" fmla="*/ 192835 h 1156989"/>
              <a:gd name="connsiteX1" fmla="*/ 192835 w 2177401"/>
              <a:gd name="connsiteY1" fmla="*/ 0 h 1156989"/>
              <a:gd name="connsiteX2" fmla="*/ 1984566 w 2177401"/>
              <a:gd name="connsiteY2" fmla="*/ 0 h 1156989"/>
              <a:gd name="connsiteX3" fmla="*/ 2177401 w 2177401"/>
              <a:gd name="connsiteY3" fmla="*/ 192835 h 1156989"/>
              <a:gd name="connsiteX4" fmla="*/ 2177401 w 2177401"/>
              <a:gd name="connsiteY4" fmla="*/ 964154 h 1156989"/>
              <a:gd name="connsiteX5" fmla="*/ 1984566 w 2177401"/>
              <a:gd name="connsiteY5" fmla="*/ 1156989 h 1156989"/>
              <a:gd name="connsiteX6" fmla="*/ 192835 w 2177401"/>
              <a:gd name="connsiteY6" fmla="*/ 1156989 h 1156989"/>
              <a:gd name="connsiteX7" fmla="*/ 0 w 2177401"/>
              <a:gd name="connsiteY7" fmla="*/ 964154 h 1156989"/>
              <a:gd name="connsiteX8" fmla="*/ 0 w 2177401"/>
              <a:gd name="connsiteY8" fmla="*/ 192835 h 115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7401" h="1156989">
                <a:moveTo>
                  <a:pt x="0" y="192835"/>
                </a:moveTo>
                <a:cubicBezTo>
                  <a:pt x="0" y="86335"/>
                  <a:pt x="86335" y="0"/>
                  <a:pt x="192835" y="0"/>
                </a:cubicBezTo>
                <a:lnTo>
                  <a:pt x="1984566" y="0"/>
                </a:lnTo>
                <a:cubicBezTo>
                  <a:pt x="2091066" y="0"/>
                  <a:pt x="2177401" y="86335"/>
                  <a:pt x="2177401" y="192835"/>
                </a:cubicBezTo>
                <a:lnTo>
                  <a:pt x="2177401" y="964154"/>
                </a:lnTo>
                <a:cubicBezTo>
                  <a:pt x="2177401" y="1070654"/>
                  <a:pt x="2091066" y="1156989"/>
                  <a:pt x="1984566" y="1156989"/>
                </a:cubicBezTo>
                <a:lnTo>
                  <a:pt x="192835" y="1156989"/>
                </a:lnTo>
                <a:cubicBezTo>
                  <a:pt x="86335" y="1156989"/>
                  <a:pt x="0" y="1070654"/>
                  <a:pt x="0" y="964154"/>
                </a:cubicBezTo>
                <a:lnTo>
                  <a:pt x="0" y="192835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060" tIns="125060" rIns="125060" bIns="1250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H" sz="1600" kern="1200" dirty="0">
                <a:latin typeface="Montserrat" pitchFamily="2" charset="0"/>
              </a:rPr>
              <a:t>Fusion des</a:t>
            </a:r>
            <a:r>
              <a:rPr lang="fr-CH" sz="1800" kern="1200" dirty="0">
                <a:latin typeface="Montserrat" pitchFamily="2" charset="0"/>
              </a:rPr>
              <a:t> </a:t>
            </a:r>
            <a:r>
              <a:rPr lang="fr-CH" sz="1600" kern="1200" dirty="0">
                <a:solidFill>
                  <a:prstClr val="white"/>
                </a:solidFill>
                <a:latin typeface="Montserrat" pitchFamily="2" charset="0"/>
              </a:rPr>
              <a:t>données</a:t>
            </a:r>
            <a:endParaRPr lang="fr-FR" sz="1600" kern="1200" dirty="0">
              <a:solidFill>
                <a:prstClr val="white"/>
              </a:solidFill>
              <a:latin typeface="Montserrat" pitchFamily="2" charset="0"/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85726370-1FB3-B47C-0F7D-BC91C8A4F5A2}"/>
              </a:ext>
            </a:extLst>
          </p:cNvPr>
          <p:cNvSpPr/>
          <p:nvPr/>
        </p:nvSpPr>
        <p:spPr>
          <a:xfrm>
            <a:off x="2062362" y="3688705"/>
            <a:ext cx="2177401" cy="1156989"/>
          </a:xfrm>
          <a:custGeom>
            <a:avLst/>
            <a:gdLst>
              <a:gd name="connsiteX0" fmla="*/ 0 w 2177401"/>
              <a:gd name="connsiteY0" fmla="*/ 192835 h 1156989"/>
              <a:gd name="connsiteX1" fmla="*/ 192835 w 2177401"/>
              <a:gd name="connsiteY1" fmla="*/ 0 h 1156989"/>
              <a:gd name="connsiteX2" fmla="*/ 1984566 w 2177401"/>
              <a:gd name="connsiteY2" fmla="*/ 0 h 1156989"/>
              <a:gd name="connsiteX3" fmla="*/ 2177401 w 2177401"/>
              <a:gd name="connsiteY3" fmla="*/ 192835 h 1156989"/>
              <a:gd name="connsiteX4" fmla="*/ 2177401 w 2177401"/>
              <a:gd name="connsiteY4" fmla="*/ 964154 h 1156989"/>
              <a:gd name="connsiteX5" fmla="*/ 1984566 w 2177401"/>
              <a:gd name="connsiteY5" fmla="*/ 1156989 h 1156989"/>
              <a:gd name="connsiteX6" fmla="*/ 192835 w 2177401"/>
              <a:gd name="connsiteY6" fmla="*/ 1156989 h 1156989"/>
              <a:gd name="connsiteX7" fmla="*/ 0 w 2177401"/>
              <a:gd name="connsiteY7" fmla="*/ 964154 h 1156989"/>
              <a:gd name="connsiteX8" fmla="*/ 0 w 2177401"/>
              <a:gd name="connsiteY8" fmla="*/ 192835 h 115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7401" h="1156989">
                <a:moveTo>
                  <a:pt x="0" y="192835"/>
                </a:moveTo>
                <a:cubicBezTo>
                  <a:pt x="0" y="86335"/>
                  <a:pt x="86335" y="0"/>
                  <a:pt x="192835" y="0"/>
                </a:cubicBezTo>
                <a:lnTo>
                  <a:pt x="1984566" y="0"/>
                </a:lnTo>
                <a:cubicBezTo>
                  <a:pt x="2091066" y="0"/>
                  <a:pt x="2177401" y="86335"/>
                  <a:pt x="2177401" y="192835"/>
                </a:cubicBezTo>
                <a:lnTo>
                  <a:pt x="2177401" y="964154"/>
                </a:lnTo>
                <a:cubicBezTo>
                  <a:pt x="2177401" y="1070654"/>
                  <a:pt x="2091066" y="1156989"/>
                  <a:pt x="1984566" y="1156989"/>
                </a:cubicBezTo>
                <a:lnTo>
                  <a:pt x="192835" y="1156989"/>
                </a:lnTo>
                <a:cubicBezTo>
                  <a:pt x="86335" y="1156989"/>
                  <a:pt x="0" y="1070654"/>
                  <a:pt x="0" y="964154"/>
                </a:cubicBezTo>
                <a:lnTo>
                  <a:pt x="0" y="192835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40" tIns="117440" rIns="117440" bIns="11744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H" sz="1600" kern="1200" dirty="0">
                <a:latin typeface="Montserrat" pitchFamily="2" charset="0"/>
              </a:rPr>
              <a:t>Analyses</a:t>
            </a:r>
            <a:br>
              <a:rPr lang="fr-CH" sz="1600" kern="1200" dirty="0">
                <a:latin typeface="Montserrat" pitchFamily="2" charset="0"/>
              </a:rPr>
            </a:br>
            <a:r>
              <a:rPr lang="fr-CH" sz="1600" kern="1200" dirty="0">
                <a:latin typeface="Montserrat" pitchFamily="2" charset="0"/>
              </a:rPr>
              <a:t>Univariée - Bivariée</a:t>
            </a:r>
            <a:endParaRPr lang="fr-FR" sz="1600" kern="1200" dirty="0">
              <a:latin typeface="Montserrat" pitchFamily="2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A56101E-71BE-E577-ABC9-416A7207844E}"/>
              </a:ext>
            </a:extLst>
          </p:cNvPr>
          <p:cNvCxnSpPr>
            <a:cxnSpLocks/>
          </p:cNvCxnSpPr>
          <p:nvPr/>
        </p:nvCxnSpPr>
        <p:spPr>
          <a:xfrm>
            <a:off x="3095625" y="3115525"/>
            <a:ext cx="0" cy="5731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e 7">
            <a:extLst>
              <a:ext uri="{FF2B5EF4-FFF2-40B4-BE49-F238E27FC236}">
                <a16:creationId xmlns:a16="http://schemas.microsoft.com/office/drawing/2014/main" id="{85D3D2CF-530E-F132-83FC-2BDAB8C7B6F3}"/>
              </a:ext>
            </a:extLst>
          </p:cNvPr>
          <p:cNvGrpSpPr/>
          <p:nvPr/>
        </p:nvGrpSpPr>
        <p:grpSpPr>
          <a:xfrm>
            <a:off x="6429374" y="1958536"/>
            <a:ext cx="5000625" cy="1156989"/>
            <a:chOff x="6438899" y="1387036"/>
            <a:chExt cx="5000625" cy="1156989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C6882B26-764B-3611-D7CC-57DA7351D1B8}"/>
                </a:ext>
              </a:extLst>
            </p:cNvPr>
            <p:cNvSpPr/>
            <p:nvPr/>
          </p:nvSpPr>
          <p:spPr>
            <a:xfrm>
              <a:off x="6438899" y="1387036"/>
              <a:ext cx="5000625" cy="1156989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AED2DCBE-5835-9AE1-DA8B-33551B02F665}"/>
                </a:ext>
              </a:extLst>
            </p:cNvPr>
            <p:cNvSpPr txBox="1"/>
            <p:nvPr/>
          </p:nvSpPr>
          <p:spPr>
            <a:xfrm>
              <a:off x="6586537" y="1433172"/>
              <a:ext cx="4724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CH" sz="1600" dirty="0">
                <a:latin typeface="Montserrat" pitchFamily="2" charset="0"/>
              </a:endParaRPr>
            </a:p>
            <a:p>
              <a:endParaRPr lang="fr-FR" sz="1600" dirty="0">
                <a:latin typeface="Montserrat" pitchFamily="2" charset="0"/>
              </a:endParaRPr>
            </a:p>
            <a:p>
              <a:endParaRPr lang="fr-FR" sz="1600" dirty="0">
                <a:latin typeface="Montserrat" pitchFamily="2" charset="0"/>
              </a:endParaRPr>
            </a:p>
            <a:p>
              <a:endParaRPr lang="fr-FR" sz="1600" dirty="0">
                <a:latin typeface="Montserrat" pitchFamily="2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CB7696EE-D787-6E1A-3B47-DAE88017C6DB}"/>
              </a:ext>
            </a:extLst>
          </p:cNvPr>
          <p:cNvGrpSpPr/>
          <p:nvPr/>
        </p:nvGrpSpPr>
        <p:grpSpPr>
          <a:xfrm>
            <a:off x="6429374" y="3688704"/>
            <a:ext cx="5000625" cy="1156989"/>
            <a:chOff x="6438899" y="1387036"/>
            <a:chExt cx="5000625" cy="1156989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7F911F6B-EF76-B88F-650B-072FF4412A06}"/>
                </a:ext>
              </a:extLst>
            </p:cNvPr>
            <p:cNvSpPr/>
            <p:nvPr/>
          </p:nvSpPr>
          <p:spPr>
            <a:xfrm>
              <a:off x="6438899" y="1387036"/>
              <a:ext cx="5000625" cy="1156989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15E4FC9-27C3-D581-195D-4F86A4DE0942}"/>
                </a:ext>
              </a:extLst>
            </p:cNvPr>
            <p:cNvSpPr txBox="1"/>
            <p:nvPr/>
          </p:nvSpPr>
          <p:spPr>
            <a:xfrm>
              <a:off x="6586537" y="1433172"/>
              <a:ext cx="4724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CH" sz="1600" dirty="0">
                <a:latin typeface="Montserrat" pitchFamily="2" charset="0"/>
              </a:endParaRPr>
            </a:p>
            <a:p>
              <a:endParaRPr lang="fr-FR" sz="1600" dirty="0">
                <a:latin typeface="Montserrat" pitchFamily="2" charset="0"/>
              </a:endParaRPr>
            </a:p>
            <a:p>
              <a:endParaRPr lang="fr-FR" sz="1600" dirty="0">
                <a:latin typeface="Montserrat" pitchFamily="2" charset="0"/>
              </a:endParaRPr>
            </a:p>
            <a:p>
              <a:endParaRPr lang="fr-FR" sz="1600" dirty="0">
                <a:latin typeface="Montserrat" pitchFamily="2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136A8B26-306C-62F1-7D7E-E1BE0A6B089B}"/>
              </a:ext>
            </a:extLst>
          </p:cNvPr>
          <p:cNvSpPr txBox="1"/>
          <p:nvPr/>
        </p:nvSpPr>
        <p:spPr>
          <a:xfrm>
            <a:off x="6605587" y="2004491"/>
            <a:ext cx="47244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Création d’un </a:t>
            </a:r>
            <a:r>
              <a:rPr lang="fr-CH" sz="1300" dirty="0" err="1">
                <a:latin typeface="Montserrat" pitchFamily="2" charset="0"/>
              </a:rPr>
              <a:t>dataframe</a:t>
            </a:r>
            <a:r>
              <a:rPr lang="fr-CH" sz="1300" dirty="0">
                <a:latin typeface="Montserrat" pitchFamily="2" charset="0"/>
              </a:rPr>
              <a:t> avec les pays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Fusions successives avec les autres </a:t>
            </a:r>
            <a:r>
              <a:rPr lang="fr-CH" sz="1300" dirty="0" err="1">
                <a:latin typeface="Montserrat" pitchFamily="2" charset="0"/>
              </a:rPr>
              <a:t>dataframes</a:t>
            </a:r>
            <a:r>
              <a:rPr lang="fr-CH" sz="1300" dirty="0">
                <a:latin typeface="Montserrat" pitchFamily="2" charset="0"/>
              </a:rPr>
              <a:t> en</a:t>
            </a:r>
            <a:br>
              <a:rPr lang="fr-CH" sz="1300" dirty="0">
                <a:latin typeface="Montserrat" pitchFamily="2" charset="0"/>
              </a:rPr>
            </a:br>
            <a:r>
              <a:rPr lang="fr-CH" sz="1300" dirty="0">
                <a:latin typeface="Montserrat" pitchFamily="2" charset="0"/>
              </a:rPr>
              <a:t>vue de créer les variables nécessaires avec les données et indicateurs calculés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  <a:sym typeface="Wingdings" panose="05000000000000000000" pitchFamily="2" charset="2"/>
              </a:rPr>
              <a:t> 158 pays pour 79 % de la population mondiale</a:t>
            </a:r>
            <a:endParaRPr lang="fr-CH" sz="1300" dirty="0">
              <a:latin typeface="Montserrat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566DDE4-000D-8685-2128-0F205B5ADECF}"/>
              </a:ext>
            </a:extLst>
          </p:cNvPr>
          <p:cNvSpPr txBox="1"/>
          <p:nvPr/>
        </p:nvSpPr>
        <p:spPr>
          <a:xfrm>
            <a:off x="6605587" y="3775844"/>
            <a:ext cx="47244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Données statistiques (min, max, moyenne, médiane)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Dispersion (</a:t>
            </a:r>
            <a:r>
              <a:rPr lang="fr-CH" sz="1300" dirty="0" err="1">
                <a:latin typeface="Montserrat" pitchFamily="2" charset="0"/>
              </a:rPr>
              <a:t>outliers</a:t>
            </a:r>
            <a:r>
              <a:rPr lang="fr-CH" sz="1300" dirty="0">
                <a:latin typeface="Montserrat" pitchFamily="2" charset="0"/>
              </a:rPr>
              <a:t>) – (population, </a:t>
            </a:r>
            <a:r>
              <a:rPr lang="fr-CH" sz="1300" dirty="0" err="1">
                <a:latin typeface="Montserrat" pitchFamily="2" charset="0"/>
              </a:rPr>
              <a:t>tdi_pct</a:t>
            </a:r>
            <a:r>
              <a:rPr lang="fr-CH" sz="1300" dirty="0">
                <a:latin typeface="Montserrat" pitchFamily="2" charset="0"/>
              </a:rPr>
              <a:t>, </a:t>
            </a:r>
            <a:r>
              <a:rPr lang="fr-CH" sz="1300" dirty="0" err="1">
                <a:latin typeface="Montserrat" pitchFamily="2" charset="0"/>
              </a:rPr>
              <a:t>revenu_habitant</a:t>
            </a:r>
            <a:r>
              <a:rPr lang="fr-CH" sz="1300" dirty="0">
                <a:latin typeface="Montserrat" pitchFamily="2" charset="0"/>
              </a:rPr>
              <a:t>, </a:t>
            </a:r>
            <a:r>
              <a:rPr lang="fr-CH" sz="1300" dirty="0" err="1">
                <a:latin typeface="Montserrat" pitchFamily="2" charset="0"/>
              </a:rPr>
              <a:t>stabilité_politique</a:t>
            </a:r>
            <a:r>
              <a:rPr lang="fr-CH" sz="1300" dirty="0">
                <a:latin typeface="Montserrat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300" dirty="0">
                <a:latin typeface="Montserrat" pitchFamily="2" charset="0"/>
              </a:rPr>
              <a:t>Corrélations entre les variables</a:t>
            </a:r>
          </a:p>
        </p:txBody>
      </p:sp>
      <p:pic>
        <p:nvPicPr>
          <p:cNvPr id="16" name="Image 15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B6CC4FEC-80A5-6595-A774-A336392DD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69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F4D0-1323-E6E1-A479-6FBF25FC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B85D37-EE04-AD4B-A75A-CFACAF5EA611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85E608-92A4-00E1-C5FD-106D21C492F4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D8801AC-E3EA-2F8D-1E22-532DEA2E6238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texte, reçu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5140937-1F20-1D75-D601-1A11B70AE7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9" y="2732625"/>
            <a:ext cx="11182482" cy="1392750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76151F17-7A22-B008-8C4F-4A6117439B52}"/>
              </a:ext>
            </a:extLst>
          </p:cNvPr>
          <p:cNvSpPr/>
          <p:nvPr/>
        </p:nvSpPr>
        <p:spPr>
          <a:xfrm>
            <a:off x="1869895" y="2476071"/>
            <a:ext cx="4500000" cy="25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8B54C360-D80F-72C7-D51C-B5339E0F49DC}"/>
              </a:ext>
            </a:extLst>
          </p:cNvPr>
          <p:cNvSpPr/>
          <p:nvPr/>
        </p:nvSpPr>
        <p:spPr>
          <a:xfrm rot="10800000">
            <a:off x="7187240" y="2476071"/>
            <a:ext cx="4500000" cy="2565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AAF5EE1-BB67-E24A-07D4-94AC1E83982B}"/>
              </a:ext>
            </a:extLst>
          </p:cNvPr>
          <p:cNvSpPr txBox="1"/>
          <p:nvPr/>
        </p:nvSpPr>
        <p:spPr>
          <a:xfrm>
            <a:off x="504759" y="817200"/>
            <a:ext cx="773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ACP (Analyse en Composantes Principales)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Image 8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CE5F3188-8A01-CDDA-90F7-9825DB291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8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51721-FDAD-1F56-021C-CECB1D89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CF8050-9DA6-3D45-0004-32301ECB2369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09DEA-35BE-F7AC-F179-51C83746A902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E2E93E5-2494-2081-C9F7-5862CF909241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0EAFA8-7ACC-3DAA-F056-B144FEC1B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896" y="2193454"/>
            <a:ext cx="6140208" cy="3847345"/>
          </a:xfrm>
          <a:prstGeom prst="rect">
            <a:avLst/>
          </a:prstGeom>
        </p:spPr>
      </p:pic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25A61951-5C8B-1389-6FF1-66D9CEF1C7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B058956-D95D-570F-3701-86B202B54089}"/>
              </a:ext>
            </a:extLst>
          </p:cNvPr>
          <p:cNvSpPr txBox="1"/>
          <p:nvPr/>
        </p:nvSpPr>
        <p:spPr>
          <a:xfrm>
            <a:off x="504759" y="817200"/>
            <a:ext cx="773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CH" dirty="0"/>
              <a:t>Analyse multidimensionnelle – ACP (Analyse en Composantes Principales)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348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8BF5F-028D-4E21-14B8-6F82D234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76EAE4-9B93-C216-DDFC-65E9C1F45F64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11501E-3F4A-0AE6-9EC9-A857950513F2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0B908BC-0E54-6E1F-DB33-632D9657EDBD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26DFF0-6D37-B68C-9EBF-64C4A1FAB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7768" y="1839616"/>
            <a:ext cx="9956463" cy="3971704"/>
          </a:xfrm>
          <a:prstGeom prst="rect">
            <a:avLst/>
          </a:prstGeom>
        </p:spPr>
      </p:pic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5050B9C9-45C5-EB89-D11E-7272CD4D5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C778BA6-CA8A-15D2-2BF9-74D9BF966CB2}"/>
              </a:ext>
            </a:extLst>
          </p:cNvPr>
          <p:cNvSpPr txBox="1"/>
          <p:nvPr/>
        </p:nvSpPr>
        <p:spPr>
          <a:xfrm>
            <a:off x="504759" y="817200"/>
            <a:ext cx="773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ACP (Analyse en Composantes Principales)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712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4547-F338-FFB6-20D9-4E06B63B5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C31EBD-A23F-B3B1-0647-B92967AAA048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23981C-AB45-0A1B-3FA8-57E8D06706C2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A9182C5-560E-040F-4FE1-A07CB31DD743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D2C4F21-AABA-A9A1-44CD-66812E5354F0}"/>
              </a:ext>
            </a:extLst>
          </p:cNvPr>
          <p:cNvGrpSpPr/>
          <p:nvPr/>
        </p:nvGrpSpPr>
        <p:grpSpPr>
          <a:xfrm>
            <a:off x="3530768" y="1763416"/>
            <a:ext cx="5147168" cy="4166472"/>
            <a:chOff x="851068" y="1763416"/>
            <a:chExt cx="5147168" cy="4166472"/>
          </a:xfrm>
        </p:grpSpPr>
        <p:pic>
          <p:nvPicPr>
            <p:cNvPr id="7" name="Image 6" descr="Une image contenant texte, diagramme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8FD98D6D-CCFF-BAF0-5F4B-FA14D1BF7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068" y="1763416"/>
              <a:ext cx="5147168" cy="4166472"/>
            </a:xfrm>
            <a:prstGeom prst="rect">
              <a:avLst/>
            </a:prstGeom>
          </p:spPr>
        </p:pic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74ACE8EE-B02E-08CD-A7AD-0FA4E50E39D8}"/>
                </a:ext>
              </a:extLst>
            </p:cNvPr>
            <p:cNvCxnSpPr>
              <a:cxnSpLocks/>
            </p:cNvCxnSpPr>
            <p:nvPr/>
          </p:nvCxnSpPr>
          <p:spPr>
            <a:xfrm>
              <a:off x="4410765" y="2334260"/>
              <a:ext cx="0" cy="3258710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9F565B37-FA95-3BB2-5816-4CA45BE4A6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7685" y="3063130"/>
              <a:ext cx="3717235" cy="0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Image 18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999293C2-8C94-B2A4-A452-5D1A77EC5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CBD7D160-B5D0-6087-A936-E1AD563FDBF7}"/>
              </a:ext>
            </a:extLst>
          </p:cNvPr>
          <p:cNvSpPr txBox="1"/>
          <p:nvPr/>
        </p:nvSpPr>
        <p:spPr>
          <a:xfrm>
            <a:off x="504759" y="817200"/>
            <a:ext cx="773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ACP (Analyse en Composantes Principales)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055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EC498-59D3-20C3-5BF4-8B5D86B9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A913AC-D54C-92BA-C745-39FD5BE6F954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D0AD14-CE71-7619-C1F1-95DF72E05AEB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45E6F95-5B0C-C23B-6364-580181C0C8F2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814830DE-41F4-C56A-04E5-4AB14C723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9F89B95-6B2A-2510-164F-B583556F64D5}"/>
              </a:ext>
            </a:extLst>
          </p:cNvPr>
          <p:cNvSpPr txBox="1"/>
          <p:nvPr/>
        </p:nvSpPr>
        <p:spPr>
          <a:xfrm>
            <a:off x="504000" y="817250"/>
            <a:ext cx="773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ACP (Analyse en Composantes Principales)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4266EE2-C736-361C-4C4B-A48FF1C5D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5063" y="1438798"/>
            <a:ext cx="6661873" cy="54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61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CFB2-F178-5C60-4F55-E4542286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AC9D95-2398-D715-E359-C99A0D9B781D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B86A96-94A2-6A70-9DDF-CB9FF7EB4DCD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F8B0BED-993B-1FF2-916A-D2E0558E56D4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BA153894-390D-56AD-884A-411D047FB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74F9374-B5B5-E4ED-8D1B-2A9408088B3E}"/>
              </a:ext>
            </a:extLst>
          </p:cNvPr>
          <p:cNvSpPr txBox="1"/>
          <p:nvPr/>
        </p:nvSpPr>
        <p:spPr>
          <a:xfrm>
            <a:off x="504000" y="817250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Clustering/Regroupement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age 4" descr="Une image contenant texte, capture d’écran, reçu, noir et blanc&#10;&#10;Le contenu généré par l’IA peut être incorrect.">
            <a:extLst>
              <a:ext uri="{FF2B5EF4-FFF2-40B4-BE49-F238E27FC236}">
                <a16:creationId xmlns:a16="http://schemas.microsoft.com/office/drawing/2014/main" id="{59B2A172-B78B-2355-C082-333CE8F23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80" y="1903483"/>
            <a:ext cx="11312040" cy="3514263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5C6AC5B-6737-F1D4-DE94-62C6C2053531}"/>
              </a:ext>
            </a:extLst>
          </p:cNvPr>
          <p:cNvSpPr/>
          <p:nvPr/>
        </p:nvSpPr>
        <p:spPr>
          <a:xfrm>
            <a:off x="787400" y="2120900"/>
            <a:ext cx="1511300" cy="1409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A812875-CDCD-6EC9-7B3A-57C32B7D5DAD}"/>
              </a:ext>
            </a:extLst>
          </p:cNvPr>
          <p:cNvSpPr/>
          <p:nvPr/>
        </p:nvSpPr>
        <p:spPr>
          <a:xfrm>
            <a:off x="787400" y="2955764"/>
            <a:ext cx="1511300" cy="14097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6D07E90-1A3E-E760-ADD9-06ECCFD43B1F}"/>
              </a:ext>
            </a:extLst>
          </p:cNvPr>
          <p:cNvSpPr/>
          <p:nvPr/>
        </p:nvSpPr>
        <p:spPr>
          <a:xfrm>
            <a:off x="787400" y="3657600"/>
            <a:ext cx="1511300" cy="1938855"/>
          </a:xfrm>
          <a:prstGeom prst="ellipse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871A4459-5844-E829-1E6A-CCA8F739D390}"/>
              </a:ext>
            </a:extLst>
          </p:cNvPr>
          <p:cNvSpPr/>
          <p:nvPr/>
        </p:nvSpPr>
        <p:spPr>
          <a:xfrm rot="5400000">
            <a:off x="-438580" y="2515967"/>
            <a:ext cx="1409700" cy="2624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5F564946-54EA-A6E4-F10C-B5FEA9441883}"/>
              </a:ext>
            </a:extLst>
          </p:cNvPr>
          <p:cNvSpPr/>
          <p:nvPr/>
        </p:nvSpPr>
        <p:spPr>
          <a:xfrm rot="16200000">
            <a:off x="-438580" y="4581694"/>
            <a:ext cx="1409700" cy="2624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582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DD3A-11EA-F048-DE08-FF471F98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E200D-9413-93DA-9A4D-1C1EAFE951F2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3D7CA3-7349-EFB9-C938-DA9336FCF573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51F08BD-BE64-ED00-0E03-A3D946643841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BB47F67D-8009-26FF-6DA4-D4FC3F046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CD79394-8843-465B-3515-808E0E97DCB4}"/>
              </a:ext>
            </a:extLst>
          </p:cNvPr>
          <p:cNvSpPr txBox="1"/>
          <p:nvPr/>
        </p:nvSpPr>
        <p:spPr>
          <a:xfrm>
            <a:off x="504000" y="817250"/>
            <a:ext cx="11301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Clustering/Regroupement selon Classification ascendante hiérarchique (CAH)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07EF72D-FBF5-B871-A46B-CD4D9121A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9602" y="1438798"/>
            <a:ext cx="6272796" cy="478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10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D6975-BF23-489C-8A12-74A2B893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B934AC-4186-B846-9E38-196B456AFFD9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92F810-BB2F-05E8-8CFC-4ADFA717A881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37AB696-F5F4-720C-7334-1BB80EBBA90F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E7685A7B-48C3-76A2-11F5-1881DE5EE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0EDF86F-E68C-B777-1BA2-EBD4CB26A5CC}"/>
              </a:ext>
            </a:extLst>
          </p:cNvPr>
          <p:cNvSpPr txBox="1"/>
          <p:nvPr/>
        </p:nvSpPr>
        <p:spPr>
          <a:xfrm>
            <a:off x="504000" y="817250"/>
            <a:ext cx="9660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Clustering selon Classification ascendante hiérarchique (CAH)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64DAE8-5A48-B3CF-40C7-7D7FD1235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3205" y="2228682"/>
            <a:ext cx="6725589" cy="240063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3288E5F-C9D6-67CF-181A-F337999CB5BA}"/>
              </a:ext>
            </a:extLst>
          </p:cNvPr>
          <p:cNvSpPr txBox="1"/>
          <p:nvPr/>
        </p:nvSpPr>
        <p:spPr>
          <a:xfrm>
            <a:off x="4138573" y="1861549"/>
            <a:ext cx="3914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Moyenne des indicateurs par cluster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521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6A5A-66DB-386C-4C44-4F5002E6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B237B1-DAF7-4766-BEB8-9C33E95D329C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E1AEC1-8734-6093-0796-F295BFF2DCCA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F6C902A-8159-2435-4572-79621E365800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DB40AD0E-824C-89A1-FF86-08BF26A39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3D78423-BB2B-3583-B940-BD27A709E861}"/>
              </a:ext>
            </a:extLst>
          </p:cNvPr>
          <p:cNvSpPr txBox="1"/>
          <p:nvPr/>
        </p:nvSpPr>
        <p:spPr>
          <a:xfrm>
            <a:off x="504000" y="817250"/>
            <a:ext cx="5929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Clustering selon </a:t>
            </a:r>
            <a:r>
              <a:rPr lang="fr-CH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KMeans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76C3BBB-9CD7-92BC-9DA1-76DBD9891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5383" y="1880222"/>
            <a:ext cx="5221234" cy="41605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0D2FFD-4591-6E25-C4F5-F569DC0B10BF}"/>
              </a:ext>
            </a:extLst>
          </p:cNvPr>
          <p:cNvSpPr/>
          <p:nvPr/>
        </p:nvSpPr>
        <p:spPr>
          <a:xfrm>
            <a:off x="5568950" y="4311650"/>
            <a:ext cx="971550" cy="6477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6573621-9ACA-B576-C406-875D17CB1775}"/>
              </a:ext>
            </a:extLst>
          </p:cNvPr>
          <p:cNvSpPr txBox="1"/>
          <p:nvPr/>
        </p:nvSpPr>
        <p:spPr>
          <a:xfrm>
            <a:off x="504000" y="1357950"/>
            <a:ext cx="3794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Combien sélectionner de clusters ?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788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730F-3F49-7186-1064-2550B5210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E678D8-E7F2-83D5-7BAF-21DC8FA6344A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FE2C91-5F64-9CB1-66EE-2F2CD9AD7066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2B8016D-092A-329C-BA25-C735D7D515BE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7B02BA1E-E00B-D599-9E35-0480D913C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E7983C4-AA0E-D729-9F82-0DCF3D118884}"/>
              </a:ext>
            </a:extLst>
          </p:cNvPr>
          <p:cNvSpPr txBox="1"/>
          <p:nvPr/>
        </p:nvSpPr>
        <p:spPr>
          <a:xfrm>
            <a:off x="504000" y="817250"/>
            <a:ext cx="59522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Clustering selon </a:t>
            </a:r>
            <a:r>
              <a:rPr lang="fr-CH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KMeans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3D1C3BB-D45D-B9CB-EFEF-435D415D7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5574" y="2321377"/>
            <a:ext cx="6820852" cy="221524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6A8CD8F-363D-076C-36AB-67672E4F147F}"/>
              </a:ext>
            </a:extLst>
          </p:cNvPr>
          <p:cNvSpPr txBox="1"/>
          <p:nvPr/>
        </p:nvSpPr>
        <p:spPr>
          <a:xfrm>
            <a:off x="4138573" y="1861549"/>
            <a:ext cx="3914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Moyenne des indicateurs par cluster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757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8C9A7-5DFE-D2E4-CE92-959355B5D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0C9511-165D-3807-A30E-9DE94C6430F7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03C574-9086-39BC-3B56-EA664C2004DA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2E2E817-F835-6D7F-374E-5773C55C1637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Analyses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B64149B2-6633-6CC6-4155-7A370280E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61DBCE4-A753-74CD-58E3-67BBB135BF5B}"/>
              </a:ext>
            </a:extLst>
          </p:cNvPr>
          <p:cNvSpPr txBox="1"/>
          <p:nvPr/>
        </p:nvSpPr>
        <p:spPr>
          <a:xfrm>
            <a:off x="504000" y="817250"/>
            <a:ext cx="4445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multidimensionnelle – Projection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F7826F-F552-E5C1-45FA-9F3287F13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8029" y="1577334"/>
            <a:ext cx="4364961" cy="478140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4F69B2E-0808-947E-7BC7-210744F95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2523" y="1577334"/>
            <a:ext cx="4357932" cy="4781407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365AFA3B-95BF-10FD-CE18-FD2756FE98D5}"/>
              </a:ext>
            </a:extLst>
          </p:cNvPr>
          <p:cNvSpPr/>
          <p:nvPr/>
        </p:nvSpPr>
        <p:spPr>
          <a:xfrm>
            <a:off x="3200400" y="2590800"/>
            <a:ext cx="2191075" cy="335280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78F4122-40FC-A00F-1013-2BF6B900A93A}"/>
              </a:ext>
            </a:extLst>
          </p:cNvPr>
          <p:cNvSpPr/>
          <p:nvPr/>
        </p:nvSpPr>
        <p:spPr>
          <a:xfrm>
            <a:off x="9393382" y="2590800"/>
            <a:ext cx="1795451" cy="335280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4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3F93-F056-3B0E-C77C-0A94E1CC7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56FF32-1B12-86DE-53AE-26A03253BA70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03FEB7-8813-BFC2-0211-F2F0B2E25A45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C067880-A492-D777-06B3-A02EC76447A0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Recommandations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4" name="Image 3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830C250E-61BD-5113-A2EE-C67100F82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AD2AA21-00BA-816D-75FD-3D90EF863583}"/>
              </a:ext>
            </a:extLst>
          </p:cNvPr>
          <p:cNvSpPr txBox="1"/>
          <p:nvPr/>
        </p:nvSpPr>
        <p:spPr>
          <a:xfrm>
            <a:off x="504000" y="817250"/>
            <a:ext cx="3227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Recommandations générales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E2B2BC7-E078-46C3-9224-10F6868978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000" y="1480724"/>
            <a:ext cx="2429700" cy="108600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19C1D60-2FB2-28A4-A7DB-203EBBFA6D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0506" y="1501506"/>
            <a:ext cx="1882403" cy="426017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C2A8BFC-31EC-318D-211F-FC6F096292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944" y="1471712"/>
            <a:ext cx="1870019" cy="421063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D39B8A8-0971-9267-E9A1-ABFC20426D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8999" y="1471712"/>
            <a:ext cx="1709023" cy="265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2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865C1-7269-F053-0386-0D80C885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0BF9E9-4827-0264-05C8-1AEA04915993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EA8D1D-752A-FE1D-166F-01BCD6B36A7B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F9FF8C5-643F-356C-0942-B8AB58B805BB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Recommandations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4" name="Image 3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B903DE3E-9A70-D5C5-20BB-B44ED396E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1A35734-7B13-C839-1F4F-2AFAA9F16A33}"/>
              </a:ext>
            </a:extLst>
          </p:cNvPr>
          <p:cNvSpPr txBox="1"/>
          <p:nvPr/>
        </p:nvSpPr>
        <p:spPr>
          <a:xfrm>
            <a:off x="504000" y="817250"/>
            <a:ext cx="5259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Recommandations spécifiques à l’aide d’un score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 5" descr="Une image contenant texte, Police, ligne&#10;&#10;Le contenu généré par l’IA peut être incorrect.">
            <a:extLst>
              <a:ext uri="{FF2B5EF4-FFF2-40B4-BE49-F238E27FC236}">
                <a16:creationId xmlns:a16="http://schemas.microsoft.com/office/drawing/2014/main" id="{8B371507-D8F8-0323-AA71-9AE88E862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1438798"/>
            <a:ext cx="3254942" cy="682102"/>
          </a:xfrm>
          <a:prstGeom prst="rect">
            <a:avLst/>
          </a:prstGeom>
        </p:spPr>
      </p:pic>
      <p:pic>
        <p:nvPicPr>
          <p:cNvPr id="8" name="Image 7" descr="Une image contenant symbole, drapeau&#10;&#10;Le contenu généré par l’IA peut être incorrect.">
            <a:extLst>
              <a:ext uri="{FF2B5EF4-FFF2-40B4-BE49-F238E27FC236}">
                <a16:creationId xmlns:a16="http://schemas.microsoft.com/office/drawing/2014/main" id="{03EB9814-2E54-5B35-9B12-89BBBCF894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415" y="1434413"/>
            <a:ext cx="1219200" cy="64340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0FD83D4-2759-75EB-20AE-8DD5F43A4F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3499" y="2386913"/>
            <a:ext cx="1219031" cy="64340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1AE00B9-BB9E-7A89-A60F-3521463CBD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3499" y="3339413"/>
            <a:ext cx="1219031" cy="64340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64C88F0-F376-279C-E3E7-FFF44E91220B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124099" y="4308856"/>
            <a:ext cx="1219031" cy="60951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9E68E50-BBDC-66F4-BDFA-193D58A6FF66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3415" y="5244411"/>
            <a:ext cx="1220400" cy="64340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D552945-AADA-D743-4982-F628B612F6BC}"/>
              </a:ext>
            </a:extLst>
          </p:cNvPr>
          <p:cNvSpPr txBox="1"/>
          <p:nvPr/>
        </p:nvSpPr>
        <p:spPr>
          <a:xfrm>
            <a:off x="9182100" y="1595183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Norvège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F6F1D5-1804-FC22-B5B8-F65F957250A1}"/>
              </a:ext>
            </a:extLst>
          </p:cNvPr>
          <p:cNvSpPr txBox="1"/>
          <p:nvPr/>
        </p:nvSpPr>
        <p:spPr>
          <a:xfrm>
            <a:off x="9182100" y="2520001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Suisse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7464040-7BBC-895E-7AF3-D6D2E2E13D68}"/>
              </a:ext>
            </a:extLst>
          </p:cNvPr>
          <p:cNvSpPr txBox="1"/>
          <p:nvPr/>
        </p:nvSpPr>
        <p:spPr>
          <a:xfrm>
            <a:off x="9182100" y="3476449"/>
            <a:ext cx="16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Luxembourg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B207B04-5FE9-93FF-B8F8-D0E255004956}"/>
              </a:ext>
            </a:extLst>
          </p:cNvPr>
          <p:cNvSpPr txBox="1"/>
          <p:nvPr/>
        </p:nvSpPr>
        <p:spPr>
          <a:xfrm>
            <a:off x="9182100" y="4432897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Irlande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F7CBB7C-9A58-A818-859B-034FC8765FE6}"/>
              </a:ext>
            </a:extLst>
          </p:cNvPr>
          <p:cNvSpPr txBox="1"/>
          <p:nvPr/>
        </p:nvSpPr>
        <p:spPr>
          <a:xfrm>
            <a:off x="9182100" y="536741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Danemark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5218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DBF7-E50A-7D3B-1A0D-49EAE30C6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6408C3-EF1A-299E-CA2A-2AF0ECE03843}"/>
              </a:ext>
            </a:extLst>
          </p:cNvPr>
          <p:cNvSpPr/>
          <p:nvPr/>
        </p:nvSpPr>
        <p:spPr>
          <a:xfrm>
            <a:off x="0" y="0"/>
            <a:ext cx="12192000" cy="5342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b="1" dirty="0"/>
              <a:t>Etude de marché pour expansion à l’international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C876F6-8DF1-9D4D-EAB8-31345451FD2F}"/>
              </a:ext>
            </a:extLst>
          </p:cNvPr>
          <p:cNvSpPr/>
          <p:nvPr/>
        </p:nvSpPr>
        <p:spPr>
          <a:xfrm>
            <a:off x="11999913" y="0"/>
            <a:ext cx="192087" cy="5342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C0D1E5E-3BED-BCCE-AF26-EEF029BA9AB3}"/>
              </a:ext>
            </a:extLst>
          </p:cNvPr>
          <p:cNvSpPr txBox="1"/>
          <p:nvPr/>
        </p:nvSpPr>
        <p:spPr>
          <a:xfrm>
            <a:off x="8342615" y="82462"/>
            <a:ext cx="35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b="1" dirty="0">
                <a:solidFill>
                  <a:schemeClr val="bg1"/>
                </a:solidFill>
              </a:rPr>
              <a:t>Limites et Conclusions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4" name="Image 3" descr="Une image contenant rouge, conception&#10;&#10;Le contenu généré par l’IA peut être incorrect.">
            <a:extLst>
              <a:ext uri="{FF2B5EF4-FFF2-40B4-BE49-F238E27FC236}">
                <a16:creationId xmlns:a16="http://schemas.microsoft.com/office/drawing/2014/main" id="{A553845C-7C2E-00CA-E79F-643DE3D5B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430" y="6169786"/>
            <a:ext cx="1678570" cy="68821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063AD07-6FD9-D3DC-C0AA-2997D84D7A71}"/>
              </a:ext>
            </a:extLst>
          </p:cNvPr>
          <p:cNvSpPr txBox="1"/>
          <p:nvPr/>
        </p:nvSpPr>
        <p:spPr>
          <a:xfrm>
            <a:off x="688489" y="1670680"/>
            <a:ext cx="49485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fr-CH" sz="1600" u="sng" dirty="0">
                <a:latin typeface="Montserrat" pitchFamily="2" charset="0"/>
              </a:rPr>
              <a:t>Limites de l’étude :</a:t>
            </a:r>
          </a:p>
          <a:p>
            <a:pPr algn="l"/>
            <a:r>
              <a:rPr lang="fr-CH" sz="1600" b="0" dirty="0">
                <a:latin typeface="Montserrat" pitchFamily="2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CH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Qualité et disponibilités des données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CH" sz="1600" b="0" dirty="0">
              <a:solidFill>
                <a:schemeClr val="tx1">
                  <a:lumMod val="50000"/>
                  <a:lumOff val="50000"/>
                </a:schemeClr>
              </a:solidFill>
              <a:latin typeface="Montserrat" pitchFamily="2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Choix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des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indicateurs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CH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Méthodes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statistiques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utilisées</a:t>
            </a:r>
            <a:endParaRPr lang="fr-CH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37C1F68-E431-3A1D-2708-EBDCD62E7B04}"/>
              </a:ext>
            </a:extLst>
          </p:cNvPr>
          <p:cNvSpPr txBox="1"/>
          <p:nvPr/>
        </p:nvSpPr>
        <p:spPr>
          <a:xfrm>
            <a:off x="6554996" y="1670680"/>
            <a:ext cx="49485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fr-CH" sz="1600" u="sng" dirty="0">
                <a:latin typeface="Montserrat" pitchFamily="2" charset="0"/>
              </a:rPr>
              <a:t>Conclusions :</a:t>
            </a:r>
          </a:p>
          <a:p>
            <a:pPr algn="l"/>
            <a:r>
              <a:rPr lang="fr-CH" sz="1600" b="0" dirty="0">
                <a:latin typeface="Montserrat" pitchFamily="2" charset="0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C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Identification des pays les plus favorables à notre développement à l’international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CH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CH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Regroupements de pays distincts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22E1B7-C8F5-2DFB-1CDF-8C2C58B18C79}"/>
              </a:ext>
            </a:extLst>
          </p:cNvPr>
          <p:cNvSpPr txBox="1"/>
          <p:nvPr/>
        </p:nvSpPr>
        <p:spPr>
          <a:xfrm>
            <a:off x="3621741" y="4043344"/>
            <a:ext cx="49485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fr-CH" sz="1600" u="sng" dirty="0">
                <a:latin typeface="Montserrat" pitchFamily="2" charset="0"/>
              </a:rPr>
              <a:t>Prochaines étapes :</a:t>
            </a:r>
          </a:p>
          <a:p>
            <a:pPr algn="l"/>
            <a:r>
              <a:rPr lang="fr-CH" sz="1600" b="0" dirty="0">
                <a:latin typeface="Montserrat" pitchFamily="2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CH" sz="1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Intégration de données plus récentes et qualitatives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CH" sz="1600" b="0" dirty="0">
              <a:solidFill>
                <a:schemeClr val="tx1">
                  <a:lumMod val="50000"/>
                  <a:lumOff val="50000"/>
                </a:schemeClr>
              </a:solidFill>
              <a:latin typeface="Montserrat" pitchFamily="2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Comparaison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des</a:t>
            </a:r>
            <a:r>
              <a:rPr lang="fr-FR" sz="1600" dirty="0"/>
              <a:t>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rPr>
              <a:t>recommandations</a:t>
            </a:r>
            <a:endParaRPr lang="fr-CH" sz="16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8394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es polices 2024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573</Words>
  <Application>Microsoft Office PowerPoint</Application>
  <PresentationFormat>Grand écran</PresentationFormat>
  <Paragraphs>145</Paragraphs>
  <Slides>21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Aptos</vt:lpstr>
      <vt:lpstr>Arial</vt:lpstr>
      <vt:lpstr>Consolas</vt:lpstr>
      <vt:lpstr>Montserrat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Hervé Pittet</dc:creator>
  <cp:lastModifiedBy>Hervé Pittet</cp:lastModifiedBy>
  <cp:revision>2</cp:revision>
  <dcterms:created xsi:type="dcterms:W3CDTF">2025-02-06T14:59:54Z</dcterms:created>
  <dcterms:modified xsi:type="dcterms:W3CDTF">2025-02-24T08:22:46Z</dcterms:modified>
</cp:coreProperties>
</file>