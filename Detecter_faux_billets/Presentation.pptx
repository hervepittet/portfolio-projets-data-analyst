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7" r:id="rId2"/>
    <p:sldId id="278" r:id="rId3"/>
    <p:sldId id="279" r:id="rId4"/>
    <p:sldId id="281" r:id="rId5"/>
    <p:sldId id="282" r:id="rId6"/>
    <p:sldId id="283" r:id="rId7"/>
    <p:sldId id="284" r:id="rId8"/>
    <p:sldId id="285" r:id="rId9"/>
    <p:sldId id="292" r:id="rId10"/>
    <p:sldId id="286" r:id="rId11"/>
    <p:sldId id="287" r:id="rId12"/>
    <p:sldId id="288" r:id="rId13"/>
    <p:sldId id="289" r:id="rId14"/>
    <p:sldId id="297" r:id="rId15"/>
    <p:sldId id="298" r:id="rId16"/>
    <p:sldId id="302" r:id="rId17"/>
    <p:sldId id="303" r:id="rId18"/>
    <p:sldId id="299" r:id="rId19"/>
    <p:sldId id="304" r:id="rId20"/>
    <p:sldId id="301" r:id="rId21"/>
    <p:sldId id="306" r:id="rId22"/>
    <p:sldId id="305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419" autoAdjust="0"/>
  </p:normalViewPr>
  <p:slideViewPr>
    <p:cSldViewPr snapToGrid="0" showGuides="1">
      <p:cViewPr varScale="1">
        <p:scale>
          <a:sx n="76" d="100"/>
          <a:sy n="76" d="100"/>
        </p:scale>
        <p:origin x="1872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vé Pittet" userId="4d581d3f41509fe7" providerId="LiveId" clId="{12F15A0F-117D-4200-A18C-F8980B887998}"/>
    <pc:docChg chg="modSld">
      <pc:chgData name="Hervé Pittet" userId="4d581d3f41509fe7" providerId="LiveId" clId="{12F15A0F-117D-4200-A18C-F8980B887998}" dt="2025-04-08T05:57:32.423" v="15" actId="6549"/>
      <pc:docMkLst>
        <pc:docMk/>
      </pc:docMkLst>
      <pc:sldChg chg="modNotesTx">
        <pc:chgData name="Hervé Pittet" userId="4d581d3f41509fe7" providerId="LiveId" clId="{12F15A0F-117D-4200-A18C-F8980B887998}" dt="2025-04-08T05:55:22.321" v="0" actId="6549"/>
        <pc:sldMkLst>
          <pc:docMk/>
          <pc:sldMk cId="1193790179" sldId="282"/>
        </pc:sldMkLst>
      </pc:sldChg>
      <pc:sldChg chg="modNotesTx">
        <pc:chgData name="Hervé Pittet" userId="4d581d3f41509fe7" providerId="LiveId" clId="{12F15A0F-117D-4200-A18C-F8980B887998}" dt="2025-04-08T05:55:31.446" v="1" actId="6549"/>
        <pc:sldMkLst>
          <pc:docMk/>
          <pc:sldMk cId="263098761" sldId="283"/>
        </pc:sldMkLst>
      </pc:sldChg>
      <pc:sldChg chg="modNotesTx">
        <pc:chgData name="Hervé Pittet" userId="4d581d3f41509fe7" providerId="LiveId" clId="{12F15A0F-117D-4200-A18C-F8980B887998}" dt="2025-04-08T05:55:37.648" v="2" actId="6549"/>
        <pc:sldMkLst>
          <pc:docMk/>
          <pc:sldMk cId="555514310" sldId="284"/>
        </pc:sldMkLst>
      </pc:sldChg>
      <pc:sldChg chg="modNotesTx">
        <pc:chgData name="Hervé Pittet" userId="4d581d3f41509fe7" providerId="LiveId" clId="{12F15A0F-117D-4200-A18C-F8980B887998}" dt="2025-04-08T05:55:43.151" v="3" actId="6549"/>
        <pc:sldMkLst>
          <pc:docMk/>
          <pc:sldMk cId="1452774047" sldId="285"/>
        </pc:sldMkLst>
      </pc:sldChg>
      <pc:sldChg chg="modNotesTx">
        <pc:chgData name="Hervé Pittet" userId="4d581d3f41509fe7" providerId="LiveId" clId="{12F15A0F-117D-4200-A18C-F8980B887998}" dt="2025-04-08T05:56:03.242" v="5" actId="6549"/>
        <pc:sldMkLst>
          <pc:docMk/>
          <pc:sldMk cId="3457672411" sldId="288"/>
        </pc:sldMkLst>
      </pc:sldChg>
      <pc:sldChg chg="modNotesTx">
        <pc:chgData name="Hervé Pittet" userId="4d581d3f41509fe7" providerId="LiveId" clId="{12F15A0F-117D-4200-A18C-F8980B887998}" dt="2025-04-08T05:56:10.475" v="6" actId="6549"/>
        <pc:sldMkLst>
          <pc:docMk/>
          <pc:sldMk cId="226081238" sldId="289"/>
        </pc:sldMkLst>
      </pc:sldChg>
      <pc:sldChg chg="modNotesTx">
        <pc:chgData name="Hervé Pittet" userId="4d581d3f41509fe7" providerId="LiveId" clId="{12F15A0F-117D-4200-A18C-F8980B887998}" dt="2025-04-08T05:55:51.589" v="4" actId="6549"/>
        <pc:sldMkLst>
          <pc:docMk/>
          <pc:sldMk cId="1406449636" sldId="292"/>
        </pc:sldMkLst>
      </pc:sldChg>
      <pc:sldChg chg="modNotesTx">
        <pc:chgData name="Hervé Pittet" userId="4d581d3f41509fe7" providerId="LiveId" clId="{12F15A0F-117D-4200-A18C-F8980B887998}" dt="2025-04-08T05:56:17.034" v="7" actId="6549"/>
        <pc:sldMkLst>
          <pc:docMk/>
          <pc:sldMk cId="3210676109" sldId="297"/>
        </pc:sldMkLst>
      </pc:sldChg>
      <pc:sldChg chg="modNotesTx">
        <pc:chgData name="Hervé Pittet" userId="4d581d3f41509fe7" providerId="LiveId" clId="{12F15A0F-117D-4200-A18C-F8980B887998}" dt="2025-04-08T05:56:22.408" v="8" actId="6549"/>
        <pc:sldMkLst>
          <pc:docMk/>
          <pc:sldMk cId="3937961578" sldId="298"/>
        </pc:sldMkLst>
      </pc:sldChg>
      <pc:sldChg chg="modNotesTx">
        <pc:chgData name="Hervé Pittet" userId="4d581d3f41509fe7" providerId="LiveId" clId="{12F15A0F-117D-4200-A18C-F8980B887998}" dt="2025-04-08T05:56:42.362" v="11" actId="6549"/>
        <pc:sldMkLst>
          <pc:docMk/>
          <pc:sldMk cId="1382204988" sldId="299"/>
        </pc:sldMkLst>
      </pc:sldChg>
      <pc:sldChg chg="modNotesTx">
        <pc:chgData name="Hervé Pittet" userId="4d581d3f41509fe7" providerId="LiveId" clId="{12F15A0F-117D-4200-A18C-F8980B887998}" dt="2025-04-08T05:57:16.225" v="13" actId="6549"/>
        <pc:sldMkLst>
          <pc:docMk/>
          <pc:sldMk cId="1965655984" sldId="301"/>
        </pc:sldMkLst>
      </pc:sldChg>
      <pc:sldChg chg="modNotesTx">
        <pc:chgData name="Hervé Pittet" userId="4d581d3f41509fe7" providerId="LiveId" clId="{12F15A0F-117D-4200-A18C-F8980B887998}" dt="2025-04-08T05:56:29.779" v="9" actId="6549"/>
        <pc:sldMkLst>
          <pc:docMk/>
          <pc:sldMk cId="1339566597" sldId="302"/>
        </pc:sldMkLst>
      </pc:sldChg>
      <pc:sldChg chg="modNotesTx">
        <pc:chgData name="Hervé Pittet" userId="4d581d3f41509fe7" providerId="LiveId" clId="{12F15A0F-117D-4200-A18C-F8980B887998}" dt="2025-04-08T05:56:35.809" v="10" actId="6549"/>
        <pc:sldMkLst>
          <pc:docMk/>
          <pc:sldMk cId="1244113341" sldId="303"/>
        </pc:sldMkLst>
      </pc:sldChg>
      <pc:sldChg chg="modNotesTx">
        <pc:chgData name="Hervé Pittet" userId="4d581d3f41509fe7" providerId="LiveId" clId="{12F15A0F-117D-4200-A18C-F8980B887998}" dt="2025-04-08T05:57:10.365" v="12" actId="6549"/>
        <pc:sldMkLst>
          <pc:docMk/>
          <pc:sldMk cId="1813012635" sldId="304"/>
        </pc:sldMkLst>
      </pc:sldChg>
      <pc:sldChg chg="modNotesTx">
        <pc:chgData name="Hervé Pittet" userId="4d581d3f41509fe7" providerId="LiveId" clId="{12F15A0F-117D-4200-A18C-F8980B887998}" dt="2025-04-08T05:57:32.423" v="15" actId="6549"/>
        <pc:sldMkLst>
          <pc:docMk/>
          <pc:sldMk cId="3808494018" sldId="305"/>
        </pc:sldMkLst>
      </pc:sldChg>
      <pc:sldChg chg="modNotesTx">
        <pc:chgData name="Hervé Pittet" userId="4d581d3f41509fe7" providerId="LiveId" clId="{12F15A0F-117D-4200-A18C-F8980B887998}" dt="2025-04-08T05:57:23.239" v="14" actId="6549"/>
        <pc:sldMkLst>
          <pc:docMk/>
          <pc:sldMk cId="1110858080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1D657-9982-4748-9622-8C006A73089A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9B12C-F0E9-46FD-BB94-E110762A0B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9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593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460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068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043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468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986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914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446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29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Plus une variable est corrélée avec un facteur, plus elle contribue à expliquer l’information contenue dans les données. Cela aide à comprendre quelles variables influencent le plus chaque facteur.</a:t>
            </a:r>
            <a:endParaRPr lang="fr-C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388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41B10-791C-7E07-2B33-62460216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8BB78A-845B-238D-F6A6-41319A885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EFF5F0-61E1-B419-0883-1A0F15D2C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61BB9C-BA1C-CD5C-95E0-CB98FB943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6355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590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487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012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324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9B12C-F0E9-46FD-BB94-E110762A0B6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422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5349E-46E0-5F38-CED7-BB453E445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5B88BA-D29F-6CCC-E495-BB90BC37B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037580-0BDF-5C8E-9576-E6830267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ED986F-441C-2EB1-CED1-12893FB5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F6737B-6F71-1157-4E85-80F65E06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84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0F40B7-D766-A731-B293-FAC31BB4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DCA6B8-6A50-B33E-94F4-5696A8044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B6496D-1E1E-5B5C-36D3-3FB93D64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BC3EAD-EC99-ACAF-4619-B94A5C76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4E9360-4F4C-A51C-E58D-4BFE1BEA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86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78CB59-4A97-435C-FDE1-333BDCAC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367BA4-01DA-E039-77F4-611E4D5FC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9D1FA6-61E8-0FA9-9DA9-E0A1EB3E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6B56E8-1364-094F-85DB-666E4DA7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A0C325-78B1-D685-E356-E7C609D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1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D9FC59-D138-67C7-E186-43E601EF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D2313A-5F15-221F-E691-341F61B81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623A11-04B9-64F9-88C9-6333BBFE0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A00C77-9158-8530-C938-57D486C0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AFF820-B1BB-A288-249B-F0219A254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F03347-3F6A-BD6C-DE34-B1D5939E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38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A0E682-53D0-A71D-BA07-2F0E33235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709641-2A9A-A800-0B77-E35FA5E11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EC0863-10FC-DAAD-E6E4-D65C98EB5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3F571A-F2C0-58C4-DD7C-67085878E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B64CA4-A3FA-7206-1DC9-050CDD35F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4B7A64-8F6F-994F-AD61-13E8E4AA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F4D7AF0-9C6F-C000-D02F-59C868245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1BA11D5-4291-A9A7-575C-98714D4A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80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C2573-2A27-64BA-D37C-7A6A29A8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C2BD28-E81C-DBB5-B2FA-69A65972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64712E-396A-B1B6-A92E-4E67FAF4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89A359-4A73-E55E-0690-ED167862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29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5A1304C-43E8-0282-FD89-141DEDC8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D18BB84-F351-CE95-613F-E7C4171F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8DD9BC-F3BF-6B54-5D4F-176B566F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30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F64043-61F8-9E1F-8753-50AC8D1E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8088DD-A589-564D-276C-9A0A6767D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95D6F6-5D3F-A12F-66D6-67F9B2418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A60C52-1F6F-9A15-C5CA-C541C2A9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145563-92BB-2CDA-A3AB-ED7085C3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A2B598-00C8-560C-73CA-306D3611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21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A66E8-83DA-2716-68B4-22910B17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89386D-6CB3-697C-6507-6A06FB25D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4AECA2-5C1C-C9BC-A1B7-A4E944833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C83D26-8ED6-96C2-B2DE-00C9EFFFC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80210F-7AFF-A24A-238A-D16E7909F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4057B7-7E28-C5FB-CFAB-D69105D9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784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CE50DE-37AC-F906-9B1F-C4EFB5FD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B93A2F2-DE00-85BD-DB18-48D1E7608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FF1921-DFFC-7F15-5806-078101D1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07E0BC-F4ED-CA05-6247-9B51C6E1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9024CA-8791-18DD-DAC4-86B3027D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02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1D1DC5-3D24-CFAA-93E3-259227B07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8BF956-2E69-F5BA-A9E3-0D6A2669F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6AE8F6-AA17-12B2-9973-649CEB37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393AE7-BD4B-2CB7-9701-19B2995E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A3CBD6-297D-DAC9-2A28-C8390E82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87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9C5D7E6-9716-D565-8DC7-96372589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214F17-98B2-F874-77FD-591C7457E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F361E1-64F5-AD94-DDF6-414C00197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782E8-3C96-4333-B380-F735BAC9F148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82C33D-92F1-B90F-4F67-874928E57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943D76-280D-E904-9124-B53C349C0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505C9-B9B0-46FB-A84C-E647A3D5DF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9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6EF23-5159-6E27-A506-2FAFF92E8F67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C0914E-A4F1-EBC5-B434-B98A2082EA07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70DAD0-DCD7-AE4A-CBBA-C945AB6EA223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C7F4977-0600-0DB7-76C2-49B84EBC2EFB}"/>
              </a:ext>
            </a:extLst>
          </p:cNvPr>
          <p:cNvSpPr txBox="1"/>
          <p:nvPr/>
        </p:nvSpPr>
        <p:spPr>
          <a:xfrm>
            <a:off x="1463210" y="2136338"/>
            <a:ext cx="92655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5400" b="1" dirty="0">
                <a:solidFill>
                  <a:srgbClr val="0F9ED5"/>
                </a:solidFill>
              </a:rPr>
              <a:t>Organisation Nationale de lutte Contre le Faux Monnayage (ONCFM)</a:t>
            </a:r>
            <a:endParaRPr lang="fr-FR" sz="5400" b="1" dirty="0">
              <a:solidFill>
                <a:srgbClr val="0F9E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95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833E0-2CE5-3A0D-F5BA-C2278CC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CA1913-BF3E-4CCB-BD76-6B5F69F3D82D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Sommaire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21BB21-6475-64BE-2B05-BAD13B804ADE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AA123-1E6E-FC59-2750-DE66C63D5E04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5" name="Image 4" descr="Une image contenant texte, tableau, personne, habits&#10;&#10;Le contenu généré par l’IA peut être incorrect.">
            <a:extLst>
              <a:ext uri="{FF2B5EF4-FFF2-40B4-BE49-F238E27FC236}">
                <a16:creationId xmlns:a16="http://schemas.microsoft.com/office/drawing/2014/main" id="{1D114E64-FCB6-C457-FB69-E354347B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956" y="548982"/>
            <a:ext cx="9217152" cy="614476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DBEBD9C-A6A5-C106-DD60-DB050CFE5AE3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6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9BDE-3C48-131B-1600-F6B7181D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37FCD-83EB-F525-66E1-264C6FB7D51A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1. Contexte et objectifs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22A21F-AF31-8292-C37B-ED9C65A46738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283D70-BE50-4A82-0E20-01A724F9597A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6" name="Graphique 5" descr="Mille avec un remplissage uni">
            <a:extLst>
              <a:ext uri="{FF2B5EF4-FFF2-40B4-BE49-F238E27FC236}">
                <a16:creationId xmlns:a16="http://schemas.microsoft.com/office/drawing/2014/main" id="{35C6F143-FC88-52ED-7478-16A7311F1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3606" y="1248987"/>
            <a:ext cx="1662694" cy="1660796"/>
          </a:xfrm>
          <a:prstGeom prst="rect">
            <a:avLst/>
          </a:prstGeom>
        </p:spPr>
      </p:pic>
      <p:pic>
        <p:nvPicPr>
          <p:cNvPr id="7" name="Image 6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933A46D0-261F-B1EF-F53F-262979151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153" y="3850487"/>
            <a:ext cx="2217600" cy="1663200"/>
          </a:xfrm>
          <a:prstGeom prst="rect">
            <a:avLst/>
          </a:prstGeom>
          <a:solidFill>
            <a:srgbClr val="000000">
              <a:alpha val="90000"/>
            </a:srgbClr>
          </a:solidFill>
          <a:ln w="17264" cap="flat">
            <a:noFill/>
            <a:prstDash val="solid"/>
            <a:miter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3FA8EB9-42B1-2C90-96FA-4DC10D85036C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2334D2D-6090-06F2-D021-6D3964779A46}"/>
              </a:ext>
            </a:extLst>
          </p:cNvPr>
          <p:cNvSpPr txBox="1"/>
          <p:nvPr/>
        </p:nvSpPr>
        <p:spPr>
          <a:xfrm>
            <a:off x="5279903" y="1340721"/>
            <a:ext cx="56915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CH" dirty="0">
                <a:solidFill>
                  <a:schemeClr val="tx1">
                    <a:alpha val="90000"/>
                  </a:schemeClr>
                </a:solidFill>
              </a:rPr>
              <a:t>Notre organisation est chargée de détecter et de prévenir la circulation de billets contrefaits,</a:t>
            </a:r>
          </a:p>
          <a:p>
            <a:pPr algn="just"/>
            <a:r>
              <a:rPr lang="fr-CH" dirty="0">
                <a:solidFill>
                  <a:schemeClr val="tx1">
                    <a:alpha val="90000"/>
                  </a:schemeClr>
                </a:solidFill>
              </a:rPr>
              <a:t>mais les processus actuels sont longs et nécessitent une automatisation pour être plus</a:t>
            </a:r>
          </a:p>
          <a:p>
            <a:pPr algn="just"/>
            <a:r>
              <a:rPr lang="fr-CH" dirty="0">
                <a:solidFill>
                  <a:schemeClr val="tx1">
                    <a:alpha val="90000"/>
                  </a:schemeClr>
                </a:solidFill>
              </a:rPr>
              <a:t>efficaces</a:t>
            </a:r>
            <a:endParaRPr lang="fr-FR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39B3B8F-DFBD-CB3F-1FF3-D792B30D682D}"/>
              </a:ext>
            </a:extLst>
          </p:cNvPr>
          <p:cNvSpPr txBox="1"/>
          <p:nvPr/>
        </p:nvSpPr>
        <p:spPr>
          <a:xfrm>
            <a:off x="5279902" y="3943423"/>
            <a:ext cx="56915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CH" dirty="0">
                <a:solidFill>
                  <a:schemeClr val="tx1">
                    <a:alpha val="90000"/>
                  </a:schemeClr>
                </a:solidFill>
              </a:rPr>
              <a:t>Développer une application de Machine Learning permettant de prédire la nature d’un billet à partir de ses caractéristiques physiques.</a:t>
            </a:r>
          </a:p>
          <a:p>
            <a:pPr algn="just"/>
            <a:r>
              <a:rPr lang="fr-CH" dirty="0">
                <a:solidFill>
                  <a:schemeClr val="tx1">
                    <a:alpha val="90000"/>
                  </a:schemeClr>
                </a:solidFill>
              </a:rPr>
              <a:t>Tester et comparer différents algorithmes afin de déterminer le modèle le plus performant.</a:t>
            </a:r>
            <a:endParaRPr lang="fr-FR" dirty="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278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D622C-45A4-CC1A-54DB-AE6555CF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10D03D-77F0-5618-6729-184459706D7F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2. Données (analyses exploratoire, univariée et bivariée)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6F9A60-DCAA-9726-5049-9FD8A3DC226E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B2A5CD-C2E2-E48A-899D-8DEC328EBFDC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5" name="Image 4" descr="Une image contenant habits, personne, intérieur, Métier&#10;&#10;Le contenu généré par l’IA peut être incorrect.">
            <a:extLst>
              <a:ext uri="{FF2B5EF4-FFF2-40B4-BE49-F238E27FC236}">
                <a16:creationId xmlns:a16="http://schemas.microsoft.com/office/drawing/2014/main" id="{D90E9552-B01A-46DC-E920-13DFBD48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00" y="550800"/>
            <a:ext cx="9217152" cy="614476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0667EC5-7656-ACD1-6E52-C432BBDBC5AE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52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72969-3B00-359B-70CB-798A1B86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C3483B-876E-5548-D6FC-F55330B2595E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/>
              <a:t>2. Données (analyses exploratoire, univariée et bivariée)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84730-E08B-5F9B-D60E-8237288B7963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2E1F56-0D04-3238-B10E-F6A1ACF0C0E5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6BF2EE-9527-21B3-11ED-C3A75A426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2242" y="592130"/>
            <a:ext cx="5485451" cy="4604182"/>
          </a:xfrm>
          <a:prstGeom prst="rect">
            <a:avLst/>
          </a:prstGeom>
        </p:spPr>
      </p:pic>
      <p:pic>
        <p:nvPicPr>
          <p:cNvPr id="6" name="Image 5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30C3682D-CB07-6C8A-972E-5C5FCB267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8" y="560064"/>
            <a:ext cx="5104874" cy="1929463"/>
          </a:xfrm>
          <a:prstGeom prst="rect">
            <a:avLst/>
          </a:prstGeom>
        </p:spPr>
      </p:pic>
      <p:pic>
        <p:nvPicPr>
          <p:cNvPr id="7" name="Image 6" descr="Une image contenant capture d’écran, texte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83EE7E44-D5E0-C92C-948C-B66ECCAC7D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8" y="2614596"/>
            <a:ext cx="5089251" cy="1757608"/>
          </a:xfrm>
          <a:prstGeom prst="rect">
            <a:avLst/>
          </a:prstGeom>
        </p:spPr>
      </p:pic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5E864A0D-B7F7-96D3-3D21-E2C6518577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39" y="4586869"/>
            <a:ext cx="5108780" cy="216771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A6D5D0D-5055-D2B3-BA97-B691FFE0706D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79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DA789-86D1-1B4B-909B-2D2F723D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521366-3CD0-4D72-EE53-B0E8429E4FA8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3. Complétion des valeurs manquantes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59600-483D-A8CF-9FD3-72D9A329CE45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9CDBB-21F6-71FE-7FE2-295052A394F9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6" name="Image 5" descr="Une image contenant texte, personne, tableau, habits&#10;&#10;Le contenu généré par l’IA peut être incorrect.">
            <a:extLst>
              <a:ext uri="{FF2B5EF4-FFF2-40B4-BE49-F238E27FC236}">
                <a16:creationId xmlns:a16="http://schemas.microsoft.com/office/drawing/2014/main" id="{12C58750-D718-9D81-EBF1-7ACE5680F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00" y="550800"/>
            <a:ext cx="9217152" cy="61447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DB74B46-921A-6897-F787-17600B15644F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9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A9BB9-41ED-2F62-0C07-A13538F3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10CDE4-ACA2-386E-FF57-19E9E699E5A5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3. Complétion des valeurs manquantes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6CF154-3C0E-5A49-3AC6-8786F63BE58C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82A738-237A-4C99-26CB-F6F4F2E9233E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5" name="Image 4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78B34E8B-85EE-0450-4919-096402951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72" y="945004"/>
            <a:ext cx="4324954" cy="2038635"/>
          </a:xfrm>
          <a:prstGeom prst="rect">
            <a:avLst/>
          </a:prstGeom>
        </p:spPr>
      </p:pic>
      <p:pic>
        <p:nvPicPr>
          <p:cNvPr id="6" name="Image 5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B6580E28-DB4A-F90C-EB51-AF44D8AC2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88" y="3376364"/>
            <a:ext cx="3915322" cy="3372320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18F65A6-7F6E-ED42-4E63-905518FB2A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63" y="942393"/>
            <a:ext cx="4753638" cy="2133898"/>
          </a:xfrm>
          <a:prstGeom prst="rect">
            <a:avLst/>
          </a:prstGeom>
        </p:spPr>
      </p:pic>
      <p:pic>
        <p:nvPicPr>
          <p:cNvPr id="8" name="Image 7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B54B5A32-3B79-3207-FAF0-77456E74F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86" y="4209441"/>
            <a:ext cx="5152792" cy="170616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389D4DB-4E38-6E2B-0EAA-0A4ABCB77D79}"/>
              </a:ext>
            </a:extLst>
          </p:cNvPr>
          <p:cNvSpPr txBox="1"/>
          <p:nvPr/>
        </p:nvSpPr>
        <p:spPr>
          <a:xfrm>
            <a:off x="858869" y="575672"/>
            <a:ext cx="2972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1. Séparation des données Train/Test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D27664A-C5CB-40DC-773E-E486BD815420}"/>
              </a:ext>
            </a:extLst>
          </p:cNvPr>
          <p:cNvSpPr txBox="1"/>
          <p:nvPr/>
        </p:nvSpPr>
        <p:spPr>
          <a:xfrm>
            <a:off x="858869" y="3068467"/>
            <a:ext cx="4700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2. Données Train (analyses exploratoire, univariée, bivariée)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00793DA-4554-1036-ED7A-622D31F5F48F}"/>
              </a:ext>
            </a:extLst>
          </p:cNvPr>
          <p:cNvSpPr txBox="1"/>
          <p:nvPr/>
        </p:nvSpPr>
        <p:spPr>
          <a:xfrm>
            <a:off x="6755863" y="541080"/>
            <a:ext cx="4961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3. Statistiques du modèle de Régression linéaire (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statsmodels</a:t>
            </a:r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)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98AC1-20B5-6991-9656-3E5B1C227FC1}"/>
              </a:ext>
            </a:extLst>
          </p:cNvPr>
          <p:cNvSpPr/>
          <p:nvPr/>
        </p:nvSpPr>
        <p:spPr>
          <a:xfrm>
            <a:off x="10757042" y="2537717"/>
            <a:ext cx="678094" cy="24658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2062B5-E2DD-ABE3-2B87-C95AE18EA8A9}"/>
              </a:ext>
            </a:extLst>
          </p:cNvPr>
          <p:cNvSpPr/>
          <p:nvPr/>
        </p:nvSpPr>
        <p:spPr>
          <a:xfrm>
            <a:off x="9471061" y="4724400"/>
            <a:ext cx="813370" cy="23801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CD8E17-673A-859A-7743-DB2909988B39}"/>
              </a:ext>
            </a:extLst>
          </p:cNvPr>
          <p:cNvSpPr/>
          <p:nvPr/>
        </p:nvSpPr>
        <p:spPr>
          <a:xfrm>
            <a:off x="9471061" y="4993239"/>
            <a:ext cx="813370" cy="922367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6ACE24-1078-3E52-16B3-721C9F80E9AB}"/>
              </a:ext>
            </a:extLst>
          </p:cNvPr>
          <p:cNvSpPr/>
          <p:nvPr/>
        </p:nvSpPr>
        <p:spPr>
          <a:xfrm>
            <a:off x="8875827" y="2801339"/>
            <a:ext cx="678094" cy="246580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0159269-195D-DB11-87A6-03B2FEB3FCB4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514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335C-531C-75A3-F882-FC47466D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41EB62-5106-D5C5-2D71-3EA13EFE832D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3. Complétion des valeurs manquantes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F6CE0-E162-A7C4-8C0B-19C42875D50F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E43070-A60C-D7E1-9F2E-13987B607511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5" name="Image 4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2ADE1AA4-5A56-EC34-D107-8C4A884D3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707" y="997806"/>
            <a:ext cx="3600953" cy="933580"/>
          </a:xfrm>
          <a:prstGeom prst="rect">
            <a:avLst/>
          </a:prstGeom>
        </p:spPr>
      </p:pic>
      <p:pic>
        <p:nvPicPr>
          <p:cNvPr id="6" name="Image 5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C40B3736-D913-EEC4-9537-5C9BE13E6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91" y="2859127"/>
            <a:ext cx="3719786" cy="3001067"/>
          </a:xfrm>
          <a:prstGeom prst="rect">
            <a:avLst/>
          </a:prstGeom>
        </p:spPr>
      </p:pic>
      <p:pic>
        <p:nvPicPr>
          <p:cNvPr id="7" name="Image 6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A9E61C71-3CD2-D7B0-AD88-D80AA29135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005" y="997806"/>
            <a:ext cx="5028473" cy="736862"/>
          </a:xfrm>
          <a:prstGeom prst="rect">
            <a:avLst/>
          </a:prstGeom>
        </p:spPr>
      </p:pic>
      <p:pic>
        <p:nvPicPr>
          <p:cNvPr id="8" name="Image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5D9829F4-78FA-59AC-69BA-9E1C4747BE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346" y="2440163"/>
            <a:ext cx="3867920" cy="30010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D11F8F8-03E0-8D60-7045-8562A05A2F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183" y="5530100"/>
            <a:ext cx="5765335" cy="50203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3C0B9F7-A701-B34B-89EA-DDFADA4AC38D}"/>
              </a:ext>
            </a:extLst>
          </p:cNvPr>
          <p:cNvSpPr txBox="1"/>
          <p:nvPr/>
        </p:nvSpPr>
        <p:spPr>
          <a:xfrm>
            <a:off x="858869" y="575672"/>
            <a:ext cx="3110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4. Stockage des différentes métriques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F6FED6A-5397-3433-8488-216969D53B81}"/>
              </a:ext>
            </a:extLst>
          </p:cNvPr>
          <p:cNvSpPr txBox="1"/>
          <p:nvPr/>
        </p:nvSpPr>
        <p:spPr>
          <a:xfrm>
            <a:off x="858868" y="2440163"/>
            <a:ext cx="3265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5. Projection des données Train prédites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0801984-E95A-4C22-00C4-557FC3582E54}"/>
              </a:ext>
            </a:extLst>
          </p:cNvPr>
          <p:cNvSpPr txBox="1"/>
          <p:nvPr/>
        </p:nvSpPr>
        <p:spPr>
          <a:xfrm>
            <a:off x="6591479" y="541080"/>
            <a:ext cx="35589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6. Vérification des hypothèses de la linéarité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093226C-061D-F165-A09E-B4BA2FBFB008}"/>
              </a:ext>
            </a:extLst>
          </p:cNvPr>
          <p:cNvSpPr txBox="1"/>
          <p:nvPr/>
        </p:nvSpPr>
        <p:spPr>
          <a:xfrm>
            <a:off x="6591479" y="1980230"/>
            <a:ext cx="4198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7. Vérification des hypothèses de l’homoscédasticité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2F154-9D7D-682C-20F5-B64A9DE425AC}"/>
              </a:ext>
            </a:extLst>
          </p:cNvPr>
          <p:cNvSpPr/>
          <p:nvPr/>
        </p:nvSpPr>
        <p:spPr>
          <a:xfrm>
            <a:off x="7516506" y="1465828"/>
            <a:ext cx="4198585" cy="26884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ADF463-4EB4-1ED7-6163-732AD1568766}"/>
              </a:ext>
            </a:extLst>
          </p:cNvPr>
          <p:cNvSpPr/>
          <p:nvPr/>
        </p:nvSpPr>
        <p:spPr>
          <a:xfrm>
            <a:off x="7071934" y="5801016"/>
            <a:ext cx="3469352" cy="25164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B23766C-5179-A817-99A5-A2D515D4D8E6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77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B4CE5-95F4-1C6A-19D5-57FB9908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C0BEB1-D036-0CD9-EBA8-BC256910B80F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3. Complétion des valeurs manquantes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1A9FAC-2059-148F-E2B1-9BCA1D2FC42E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AF6D17-90E5-C722-7C51-23C6BC0379F4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803DE1-8043-D640-FE9F-4CC240774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5434" y="997806"/>
            <a:ext cx="2863615" cy="119174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F595A62-D76A-60BE-528B-8F159689A9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1291" y="2897934"/>
            <a:ext cx="3719786" cy="292345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47696DD-7823-7420-71CE-6E04C4D4C2CA}"/>
              </a:ext>
            </a:extLst>
          </p:cNvPr>
          <p:cNvSpPr txBox="1"/>
          <p:nvPr/>
        </p:nvSpPr>
        <p:spPr>
          <a:xfrm>
            <a:off x="858869" y="575672"/>
            <a:ext cx="4158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8. Vérification des hypothèses de la 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multicolinéarité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AE2A119-22C6-5290-8F15-958130F2FD64}"/>
              </a:ext>
            </a:extLst>
          </p:cNvPr>
          <p:cNvSpPr txBox="1"/>
          <p:nvPr/>
        </p:nvSpPr>
        <p:spPr>
          <a:xfrm>
            <a:off x="858868" y="2440163"/>
            <a:ext cx="3684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9. Vérification des hypothèses de la normalité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B48A1F-31C4-DBC1-7A94-491ADC9675F7}"/>
              </a:ext>
            </a:extLst>
          </p:cNvPr>
          <p:cNvSpPr txBox="1"/>
          <p:nvPr/>
        </p:nvSpPr>
        <p:spPr>
          <a:xfrm>
            <a:off x="6591479" y="541080"/>
            <a:ext cx="4892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10. Autres tests du modèle de Régression linéaire</a:t>
            </a:r>
          </a:p>
          <a:p>
            <a:endParaRPr lang="fr-CH" sz="1200" b="1" u="sng" dirty="0">
              <a:solidFill>
                <a:schemeClr val="tx1">
                  <a:alpha val="90000"/>
                </a:schemeClr>
              </a:solidFill>
            </a:endParaRPr>
          </a:p>
          <a:p>
            <a:endParaRPr lang="fr-CH" sz="1200" b="1" u="sng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Données normalisées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Données nettoyées des valeurs aberrantes et/ou influentes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Modèle Ridge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Modèle Lasso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Données transformées (log)</a:t>
            </a:r>
            <a:endParaRPr lang="fr-FR" sz="1200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549455-50C4-F3E1-F847-38862DC48F17}"/>
              </a:ext>
            </a:extLst>
          </p:cNvPr>
          <p:cNvSpPr/>
          <p:nvPr/>
        </p:nvSpPr>
        <p:spPr>
          <a:xfrm>
            <a:off x="3236967" y="1486028"/>
            <a:ext cx="678094" cy="703521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4F8147A-78E0-7B1D-B6FE-7B25DE2B88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571" y="6006299"/>
            <a:ext cx="5061339" cy="7935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35C9D-6197-217C-837F-5BEB8FCF2B9B}"/>
              </a:ext>
            </a:extLst>
          </p:cNvPr>
          <p:cNvSpPr/>
          <p:nvPr/>
        </p:nvSpPr>
        <p:spPr>
          <a:xfrm>
            <a:off x="2074599" y="6359978"/>
            <a:ext cx="3154948" cy="21088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58CA4F-DB3C-84C4-D8B1-0A80B8F2B21A}"/>
              </a:ext>
            </a:extLst>
          </p:cNvPr>
          <p:cNvSpPr/>
          <p:nvPr/>
        </p:nvSpPr>
        <p:spPr>
          <a:xfrm>
            <a:off x="2340012" y="6615118"/>
            <a:ext cx="3437897" cy="21088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D18666D-6167-8049-135E-0E706A513BEF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44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B062-2430-D862-A3D3-C1F212A5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F21831-82AC-7A76-0591-DA2EB4111E87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3. Complétion des valeurs manquantes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A13D3-A51C-3463-6FD7-199FB6F96AE4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862D5-BF73-E49F-D7A6-82DC984B6270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90AE79-E1D5-3203-36D8-4229F3EB5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13" y="1550683"/>
            <a:ext cx="11010056" cy="104313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E21A44E-6BFF-AF3F-E228-787297773909}"/>
              </a:ext>
            </a:extLst>
          </p:cNvPr>
          <p:cNvSpPr txBox="1"/>
          <p:nvPr/>
        </p:nvSpPr>
        <p:spPr>
          <a:xfrm>
            <a:off x="643115" y="575672"/>
            <a:ext cx="5304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Résultats des métriques des différents tests de Régression linéaire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E6E6A9A-C3DA-DEC8-5DFA-EA6ACF966077}"/>
              </a:ext>
            </a:extLst>
          </p:cNvPr>
          <p:cNvSpPr txBox="1"/>
          <p:nvPr/>
        </p:nvSpPr>
        <p:spPr>
          <a:xfrm>
            <a:off x="1799819" y="3940753"/>
            <a:ext cx="64828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800" b="1" dirty="0">
                <a:solidFill>
                  <a:schemeClr val="tx1">
                    <a:alpha val="90000"/>
                  </a:schemeClr>
                </a:solidFill>
              </a:rPr>
              <a:t>PAS D’AMELIORATION SENSIBLE +</a:t>
            </a:r>
          </a:p>
          <a:p>
            <a:r>
              <a:rPr lang="fr-CH" sz="2800" b="1" dirty="0">
                <a:solidFill>
                  <a:schemeClr val="tx1">
                    <a:alpha val="90000"/>
                  </a:schemeClr>
                </a:solidFill>
              </a:rPr>
              <a:t>HYPOTHESES NON VERIFIEES</a:t>
            </a:r>
            <a:endParaRPr lang="fr-FR" sz="2800" b="1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5F425DD6-2E5E-2977-0B83-3D9D0A30E5D6}"/>
              </a:ext>
            </a:extLst>
          </p:cNvPr>
          <p:cNvSpPr/>
          <p:nvPr/>
        </p:nvSpPr>
        <p:spPr>
          <a:xfrm>
            <a:off x="8455631" y="4264185"/>
            <a:ext cx="698643" cy="287267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Graphique 10" descr="Questions avec un remplissage uni">
            <a:extLst>
              <a:ext uri="{FF2B5EF4-FFF2-40B4-BE49-F238E27FC236}">
                <a16:creationId xmlns:a16="http://schemas.microsoft.com/office/drawing/2014/main" id="{124C5E66-F093-533F-5A1E-7B1DF31F2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914" y="3950618"/>
            <a:ext cx="914400" cy="914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9B8A963-9DA6-55F8-C2D2-5E80EA784365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611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0493-46DC-C945-B146-1395077E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6BFE20-0CE2-92E6-5390-077CA061CCED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3. Complétion des valeurs manquantes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841FC-12E5-38CF-ECDA-558910795F80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D98D0-2F66-D6EC-309C-C80C8D2F38D7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6" name="Image 5" descr="Une image contenant personne, habits, intérieur, Visage humain&#10;&#10;Le contenu généré par l’IA peut être incorrect.">
            <a:extLst>
              <a:ext uri="{FF2B5EF4-FFF2-40B4-BE49-F238E27FC236}">
                <a16:creationId xmlns:a16="http://schemas.microsoft.com/office/drawing/2014/main" id="{A8295AA1-67CA-37AF-22F2-E1D6D0531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00" y="550800"/>
            <a:ext cx="9217152" cy="61447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3AA99F2-465E-228C-1FDA-59870FC365AA}"/>
              </a:ext>
            </a:extLst>
          </p:cNvPr>
          <p:cNvSpPr txBox="1"/>
          <p:nvPr/>
        </p:nvSpPr>
        <p:spPr>
          <a:xfrm rot="21369608">
            <a:off x="3531298" y="4988316"/>
            <a:ext cx="1964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37 billets (2,5 %)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242C89-A1DA-11A9-26AE-9678ABF4540C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268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16C4-6D50-47C7-A722-541C6D72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C67ED9-083C-7FE4-AD16-BFF3A97DFE54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00CC0-4CF3-3914-12EC-E99E8910CBE8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4BBA0-B380-EDD8-5A04-009C04D2F8CD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pic>
        <p:nvPicPr>
          <p:cNvPr id="5" name="Image 4" descr="Une image contenant texte, intérieur, personne, habits&#10;&#10;Le contenu généré par l’IA peut être incorrect.">
            <a:extLst>
              <a:ext uri="{FF2B5EF4-FFF2-40B4-BE49-F238E27FC236}">
                <a16:creationId xmlns:a16="http://schemas.microsoft.com/office/drawing/2014/main" id="{F098B8DA-7010-0D4B-8BEA-C6E63D910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00" y="550800"/>
            <a:ext cx="9217152" cy="614476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DE79737-3545-B996-ED6A-3662263D845F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7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52A8-D7FC-4688-B0EA-170128B6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F2B293-82BE-E859-9852-D84DAD727094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/>
              <a:t>4. Algorithme de détection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3FDAE-AB18-23E8-DB42-CC5A83024199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CA48B4-FEC5-CDC3-A5F3-D90FFF7ABDB3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53BE88A-9817-A5C7-343D-1AE21CBBF98F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609AB4-AB9A-4AC7-A952-D7B90D28248C}"/>
              </a:ext>
            </a:extLst>
          </p:cNvPr>
          <p:cNvSpPr txBox="1"/>
          <p:nvPr/>
        </p:nvSpPr>
        <p:spPr>
          <a:xfrm>
            <a:off x="437635" y="576000"/>
            <a:ext cx="5043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1. Données nettoyées (analyses exploratoire, univariée, bivariée)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8" name="Image 7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EBA5B38-6B81-412C-E055-23280432C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97" y="1102055"/>
            <a:ext cx="5550040" cy="471553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ED76C96-4DB0-7191-C07B-D9DFD11F5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2242" y="576000"/>
            <a:ext cx="5485451" cy="2344404"/>
          </a:xfrm>
          <a:prstGeom prst="rect">
            <a:avLst/>
          </a:prstGeom>
        </p:spPr>
      </p:pic>
      <p:pic>
        <p:nvPicPr>
          <p:cNvPr id="11" name="Image 10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BEE2B737-C80B-465B-5F42-24D826484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780" y="4483902"/>
            <a:ext cx="3210373" cy="133368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C1637FE-9EBC-2F5D-B894-0BDAB14FC24F}"/>
              </a:ext>
            </a:extLst>
          </p:cNvPr>
          <p:cNvSpPr txBox="1"/>
          <p:nvPr/>
        </p:nvSpPr>
        <p:spPr>
          <a:xfrm>
            <a:off x="6392242" y="3937597"/>
            <a:ext cx="2040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2. Test de 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Kruskal</a:t>
            </a:r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-Wallis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A93D1-98BA-68BB-1910-98E9CEB5A5AE}"/>
              </a:ext>
            </a:extLst>
          </p:cNvPr>
          <p:cNvSpPr/>
          <p:nvPr/>
        </p:nvSpPr>
        <p:spPr>
          <a:xfrm>
            <a:off x="9648041" y="4701840"/>
            <a:ext cx="1092112" cy="1115748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81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69BF-FEAF-067A-BB10-09B5BF3A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2F7048-ACB5-7898-090B-4E4377BD8D05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 – Régression logistique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BDE200-493F-A035-AAF0-1969B3680D91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C7774-7BDE-2BEF-DF6E-57E47317081E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B6E1FB-86C3-FD83-CD87-B73BB40A698C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texte, reçu, Police, algèbre&#10;&#10;Le contenu généré par l’IA peut être incorrect.">
            <a:extLst>
              <a:ext uri="{FF2B5EF4-FFF2-40B4-BE49-F238E27FC236}">
                <a16:creationId xmlns:a16="http://schemas.microsoft.com/office/drawing/2014/main" id="{995A3641-B9CE-5958-D901-20F94EB20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35" y="1125582"/>
            <a:ext cx="2086266" cy="1514686"/>
          </a:xfrm>
          <a:prstGeom prst="rect">
            <a:avLst/>
          </a:prstGeom>
        </p:spPr>
      </p:pic>
      <p:pic>
        <p:nvPicPr>
          <p:cNvPr id="9" name="Image 8" descr="Une image contenant texte, menu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6B0611D8-3A61-2B0A-44CB-A0B7D5330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2" y="3519192"/>
            <a:ext cx="4816512" cy="29341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2F4B07E-5101-1AFF-23C6-1BF403A1BC18}"/>
              </a:ext>
            </a:extLst>
          </p:cNvPr>
          <p:cNvSpPr/>
          <p:nvPr/>
        </p:nvSpPr>
        <p:spPr>
          <a:xfrm>
            <a:off x="4706170" y="4650468"/>
            <a:ext cx="698035" cy="25030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C516ED-603F-4A42-2448-573E2F9A5136}"/>
              </a:ext>
            </a:extLst>
          </p:cNvPr>
          <p:cNvSpPr/>
          <p:nvPr/>
        </p:nvSpPr>
        <p:spPr>
          <a:xfrm>
            <a:off x="3614792" y="5424276"/>
            <a:ext cx="565383" cy="28938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D53CE7-DCA1-A23C-408D-CADBED1BBCF1}"/>
              </a:ext>
            </a:extLst>
          </p:cNvPr>
          <p:cNvSpPr/>
          <p:nvPr/>
        </p:nvSpPr>
        <p:spPr>
          <a:xfrm>
            <a:off x="3613082" y="5730786"/>
            <a:ext cx="565383" cy="59809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DB29D0D-647D-39FE-E59A-691FFC128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2101" y="1125582"/>
            <a:ext cx="2086266" cy="114744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D841278-64EF-FCDB-A631-C54CF7E463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6976" y="3519192"/>
            <a:ext cx="4816512" cy="265791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7B3824-B765-2DFE-86C8-2626A7F46C3B}"/>
              </a:ext>
            </a:extLst>
          </p:cNvPr>
          <p:cNvSpPr/>
          <p:nvPr/>
        </p:nvSpPr>
        <p:spPr>
          <a:xfrm>
            <a:off x="10653195" y="4677578"/>
            <a:ext cx="698035" cy="25030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E27A82-FA30-2829-F6FF-9BD5110B0422}"/>
              </a:ext>
            </a:extLst>
          </p:cNvPr>
          <p:cNvSpPr/>
          <p:nvPr/>
        </p:nvSpPr>
        <p:spPr>
          <a:xfrm>
            <a:off x="9542984" y="5431738"/>
            <a:ext cx="565383" cy="59809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47692B-717A-9CF1-9425-724688A7896B}"/>
              </a:ext>
            </a:extLst>
          </p:cNvPr>
          <p:cNvSpPr/>
          <p:nvPr/>
        </p:nvSpPr>
        <p:spPr>
          <a:xfrm>
            <a:off x="2448674" y="1531164"/>
            <a:ext cx="678094" cy="110910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2DAA71-147E-461C-319E-6FC9E252B82F}"/>
              </a:ext>
            </a:extLst>
          </p:cNvPr>
          <p:cNvSpPr/>
          <p:nvPr/>
        </p:nvSpPr>
        <p:spPr>
          <a:xfrm>
            <a:off x="8387138" y="1510616"/>
            <a:ext cx="678094" cy="76241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8667340-3C8C-A15C-6E76-9890E9840D63}"/>
              </a:ext>
            </a:extLst>
          </p:cNvPr>
          <p:cNvSpPr txBox="1"/>
          <p:nvPr/>
        </p:nvSpPr>
        <p:spPr>
          <a:xfrm>
            <a:off x="437635" y="576000"/>
            <a:ext cx="39437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1. Vérification des hypothèses de 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multicolinéarité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AC94DE-32A7-BEEF-4ECD-20A3CD9F74EE}"/>
              </a:ext>
            </a:extLst>
          </p:cNvPr>
          <p:cNvSpPr txBox="1"/>
          <p:nvPr/>
        </p:nvSpPr>
        <p:spPr>
          <a:xfrm>
            <a:off x="437635" y="2941230"/>
            <a:ext cx="5160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2. Statistiques du modèle de Régression logistique (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statsmodels</a:t>
            </a:r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)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FB8B7F1-4057-277E-1C85-155530ED7637}"/>
              </a:ext>
            </a:extLst>
          </p:cNvPr>
          <p:cNvSpPr txBox="1"/>
          <p:nvPr/>
        </p:nvSpPr>
        <p:spPr>
          <a:xfrm>
            <a:off x="6656976" y="580568"/>
            <a:ext cx="4087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1. B Vérification des hypothèses de 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multicolinéarité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0308ECA-50E0-0799-6455-349C7A02471A}"/>
              </a:ext>
            </a:extLst>
          </p:cNvPr>
          <p:cNvSpPr txBox="1"/>
          <p:nvPr/>
        </p:nvSpPr>
        <p:spPr>
          <a:xfrm>
            <a:off x="6656976" y="2941229"/>
            <a:ext cx="5315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2. B Statistiques du modèle de Régression logistique (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statsmodels</a:t>
            </a:r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)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676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9876-13F9-4B51-BCD4-302062977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6A36F3-7169-79B1-051C-6800C828FB05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 – Régression logistique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DDCA5-6399-C805-6E8F-99A42F966567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75521-30A6-565C-CF88-14BA01274B6F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F5349D-EB26-5581-0E84-DBCF6DFF30E4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ED5FF4C-7EE9-E50E-CA8D-662FFC837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7" y="1041544"/>
            <a:ext cx="7217147" cy="137179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B56965B-78EC-57C8-104A-109417F1B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7" y="3010149"/>
            <a:ext cx="2715004" cy="200053"/>
          </a:xfrm>
          <a:prstGeom prst="rect">
            <a:avLst/>
          </a:prstGeom>
        </p:spPr>
      </p:pic>
      <p:pic>
        <p:nvPicPr>
          <p:cNvPr id="11" name="Image 10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53A3C02C-A8E9-3E97-B36B-E53416A307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7" y="3747824"/>
            <a:ext cx="3002699" cy="27054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3FFCA53-F6B8-6C24-DBC0-27FF35841C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767" y="3747824"/>
            <a:ext cx="8261233" cy="100598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7160F13-03EE-A347-958E-49AB44B582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65512"/>
            <a:ext cx="6001588" cy="562053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A7F1F73A-4436-4EF5-D615-7811ADD11AAB}"/>
              </a:ext>
            </a:extLst>
          </p:cNvPr>
          <p:cNvSpPr txBox="1"/>
          <p:nvPr/>
        </p:nvSpPr>
        <p:spPr>
          <a:xfrm>
            <a:off x="437635" y="576000"/>
            <a:ext cx="4201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Métriques calculées pour comparaison des modèles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199E614-E4B9-EA0D-8F72-5D72A6326799}"/>
              </a:ext>
            </a:extLst>
          </p:cNvPr>
          <p:cNvSpPr txBox="1"/>
          <p:nvPr/>
        </p:nvSpPr>
        <p:spPr>
          <a:xfrm>
            <a:off x="437635" y="2573242"/>
            <a:ext cx="249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Résultat sur les données Train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8C0BED2-CA91-021E-BCED-55765A32DE5F}"/>
              </a:ext>
            </a:extLst>
          </p:cNvPr>
          <p:cNvSpPr txBox="1"/>
          <p:nvPr/>
        </p:nvSpPr>
        <p:spPr>
          <a:xfrm>
            <a:off x="437635" y="3370800"/>
            <a:ext cx="1808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Matrice de confusion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8657F85-79EC-0C76-8D26-014594005A4B}"/>
              </a:ext>
            </a:extLst>
          </p:cNvPr>
          <p:cNvSpPr txBox="1"/>
          <p:nvPr/>
        </p:nvSpPr>
        <p:spPr>
          <a:xfrm>
            <a:off x="6070600" y="5313597"/>
            <a:ext cx="2935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Stockage des différentes métriques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961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0B05-E9F3-AE84-FE0F-EB8C141F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6EE12A-7669-BB21-09DE-E84B015FEEB1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 - </a:t>
            </a:r>
            <a:r>
              <a:rPr lang="fr-CH" b="1" dirty="0" err="1"/>
              <a:t>KMeans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93F5D-33B4-1541-40AD-1826959C96D0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BF7E1-1F88-5257-7C54-F68C20D0ABD3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C143FC-785E-80C4-37E9-9D0B2035F3A4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3B00DD-2A11-B109-637F-98814C22D50C}"/>
              </a:ext>
            </a:extLst>
          </p:cNvPr>
          <p:cNvSpPr txBox="1"/>
          <p:nvPr/>
        </p:nvSpPr>
        <p:spPr>
          <a:xfrm>
            <a:off x="437635" y="576000"/>
            <a:ext cx="4961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1. Analyse en composantes principales (réduction dimensions)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8" name="Image 7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18ADCC5C-0CAE-688A-86C8-653254E41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35" y="911857"/>
            <a:ext cx="3386944" cy="3438151"/>
          </a:xfrm>
          <a:prstGeom prst="rect">
            <a:avLst/>
          </a:prstGeom>
        </p:spPr>
      </p:pic>
      <p:pic>
        <p:nvPicPr>
          <p:cNvPr id="10" name="Image 9" descr="Une image contenant capture d’écran, texte, Rectangle, carré&#10;&#10;Le contenu généré par l’IA peut être incorrect.">
            <a:extLst>
              <a:ext uri="{FF2B5EF4-FFF2-40B4-BE49-F238E27FC236}">
                <a16:creationId xmlns:a16="http://schemas.microsoft.com/office/drawing/2014/main" id="{9E13992A-E8EB-8F0E-F36C-EC9959436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35" y="4155942"/>
            <a:ext cx="5747016" cy="2702058"/>
          </a:xfrm>
          <a:prstGeom prst="rect">
            <a:avLst/>
          </a:prstGeom>
        </p:spPr>
      </p:pic>
      <p:pic>
        <p:nvPicPr>
          <p:cNvPr id="12" name="Image 11" descr="Une image contenant capture d’écran, texte, diagramme&#10;&#10;Le contenu généré par l’IA peut être incorrect.">
            <a:extLst>
              <a:ext uri="{FF2B5EF4-FFF2-40B4-BE49-F238E27FC236}">
                <a16:creationId xmlns:a16="http://schemas.microsoft.com/office/drawing/2014/main" id="{5418F531-6823-E239-ABC3-8A1DDCACE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86" y="911857"/>
            <a:ext cx="5040182" cy="400142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E2635A52-7AF0-0B63-E3E5-B7F172D165B8}"/>
              </a:ext>
            </a:extLst>
          </p:cNvPr>
          <p:cNvSpPr txBox="1"/>
          <p:nvPr/>
        </p:nvSpPr>
        <p:spPr>
          <a:xfrm>
            <a:off x="6656976" y="580568"/>
            <a:ext cx="5266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Projection des individus dans la dimension des composantes 1 et 2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56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6DDD-4F60-D007-C37A-591D3A8D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B6ECC6-7BB6-A28E-E729-BD7E175B3B36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 - </a:t>
            </a:r>
            <a:r>
              <a:rPr lang="fr-CH" b="1" dirty="0" err="1"/>
              <a:t>KMeans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C072CE-1475-670B-D245-10072080DFE1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2A45E-0A0D-FFA5-7E40-848B7ECC4F29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AF4D44-4374-B88A-8305-A3AFAA1BAB49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A1439C-42F2-5694-900C-AF2E64EEB2CA}"/>
              </a:ext>
            </a:extLst>
          </p:cNvPr>
          <p:cNvSpPr txBox="1"/>
          <p:nvPr/>
        </p:nvSpPr>
        <p:spPr>
          <a:xfrm>
            <a:off x="437635" y="576000"/>
            <a:ext cx="3171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1. Détermination du nombre de cluster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E0BBC4-5C01-C3EC-1AC5-E69D17A51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0514" y="975178"/>
            <a:ext cx="3400900" cy="2752836"/>
          </a:xfrm>
          <a:prstGeom prst="rect">
            <a:avLst/>
          </a:prstGeom>
        </p:spPr>
      </p:pic>
      <p:pic>
        <p:nvPicPr>
          <p:cNvPr id="10" name="Image 9" descr="Une image contenant texte, capture d’écran, Caractère coloré&#10;&#10;Le contenu généré par l’IA peut être incorrect.">
            <a:extLst>
              <a:ext uri="{FF2B5EF4-FFF2-40B4-BE49-F238E27FC236}">
                <a16:creationId xmlns:a16="http://schemas.microsoft.com/office/drawing/2014/main" id="{B1FF92C5-A64B-8B23-9B8A-94D100FBE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486" y="962657"/>
            <a:ext cx="4410160" cy="350124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CEC797E-D8D1-63B7-97B8-F8458842B3A5}"/>
              </a:ext>
            </a:extLst>
          </p:cNvPr>
          <p:cNvSpPr txBox="1"/>
          <p:nvPr/>
        </p:nvSpPr>
        <p:spPr>
          <a:xfrm>
            <a:off x="6656976" y="580568"/>
            <a:ext cx="5466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2. Projection des individus dans la dimension des composantes 1 et 2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2ED77AD-8667-0E9B-46B9-9B95E3C165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908" y="4777964"/>
            <a:ext cx="2080550" cy="190907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E617D7D-FE7F-3A9A-3932-F707C82B86DC}"/>
              </a:ext>
            </a:extLst>
          </p:cNvPr>
          <p:cNvSpPr txBox="1"/>
          <p:nvPr/>
        </p:nvSpPr>
        <p:spPr>
          <a:xfrm>
            <a:off x="6656976" y="4445095"/>
            <a:ext cx="4878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3. Détermination de l’appartenance des clusters aux groupes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15" name="Image 14" descr="Une image contenant texte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27511DF2-EC44-112B-F56B-F3F30EDF3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14" y="3909162"/>
            <a:ext cx="3400900" cy="277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13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86FC0-B3B1-1FE6-A94B-09516AE2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B6DC7C-AE55-41EE-9D0C-173577D1BAFA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 - Autres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67CD0-F474-AB7B-7CFA-840E80FA86F6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7ADD8D-56B9-BCBC-9F6F-203C2A3A57E1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198683-241B-9901-0132-012032A2AF00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B9213FA-22FB-BA96-1D68-E8D600195609}"/>
              </a:ext>
            </a:extLst>
          </p:cNvPr>
          <p:cNvSpPr txBox="1"/>
          <p:nvPr/>
        </p:nvSpPr>
        <p:spPr>
          <a:xfrm>
            <a:off x="437635" y="576000"/>
            <a:ext cx="2319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KNN – K-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Nearest</a:t>
            </a:r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 Neighbors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8" name="Image 7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420C8AD9-DF3A-EDD2-5387-F97BBF9B0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7" y="904236"/>
            <a:ext cx="4279401" cy="332842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D17D993-F458-1BC5-E56F-A5E3E1707A30}"/>
              </a:ext>
            </a:extLst>
          </p:cNvPr>
          <p:cNvSpPr txBox="1"/>
          <p:nvPr/>
        </p:nvSpPr>
        <p:spPr>
          <a:xfrm>
            <a:off x="6656976" y="580568"/>
            <a:ext cx="1226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Decision</a:t>
            </a:r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 </a:t>
            </a:r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Tree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11" name="Image 10" descr="Une image contenant diagramme, texte, croquis, Plan&#10;&#10;Le contenu généré par l’IA peut être incorrect.">
            <a:extLst>
              <a:ext uri="{FF2B5EF4-FFF2-40B4-BE49-F238E27FC236}">
                <a16:creationId xmlns:a16="http://schemas.microsoft.com/office/drawing/2014/main" id="{FEF7F2D6-F20A-55D1-DF91-3C5B81EB4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976" y="968446"/>
            <a:ext cx="5135281" cy="383500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62EA3443-0574-78BE-F1F5-D33784BC70C1}"/>
              </a:ext>
            </a:extLst>
          </p:cNvPr>
          <p:cNvSpPr txBox="1"/>
          <p:nvPr/>
        </p:nvSpPr>
        <p:spPr>
          <a:xfrm>
            <a:off x="6656976" y="4959138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Random</a:t>
            </a:r>
            <a:r>
              <a:rPr lang="fr-CH" sz="1200" b="1" u="sng" dirty="0">
                <a:solidFill>
                  <a:schemeClr val="tx1">
                    <a:alpha val="90000"/>
                  </a:schemeClr>
                </a:solidFill>
              </a:rPr>
              <a:t>-Forest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13" name="Image 12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7134FD64-B323-279B-2EE2-833FC6E3D9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976" y="5538774"/>
            <a:ext cx="2819794" cy="9145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0A92E8-6695-D4EB-984E-8A9AE8BF57D5}"/>
              </a:ext>
            </a:extLst>
          </p:cNvPr>
          <p:cNvSpPr/>
          <p:nvPr/>
        </p:nvSpPr>
        <p:spPr>
          <a:xfrm>
            <a:off x="7883594" y="5660954"/>
            <a:ext cx="565383" cy="28938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11957E4-B614-FF35-A636-105CF0837ECA}"/>
              </a:ext>
            </a:extLst>
          </p:cNvPr>
          <p:cNvSpPr txBox="1"/>
          <p:nvPr/>
        </p:nvSpPr>
        <p:spPr>
          <a:xfrm>
            <a:off x="437635" y="4393553"/>
            <a:ext cx="3071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i="1" u="sng" dirty="0">
                <a:solidFill>
                  <a:schemeClr val="tx1">
                    <a:alpha val="90000"/>
                  </a:schemeClr>
                </a:solidFill>
              </a:rPr>
              <a:t>Exemple KNN – K-</a:t>
            </a:r>
            <a:r>
              <a:rPr lang="fr-CH" sz="1200" i="1" u="sng" dirty="0" err="1">
                <a:solidFill>
                  <a:schemeClr val="tx1">
                    <a:alpha val="90000"/>
                  </a:schemeClr>
                </a:solidFill>
              </a:rPr>
              <a:t>Nearest</a:t>
            </a:r>
            <a:r>
              <a:rPr lang="fr-CH" sz="1200" i="1" u="sng" dirty="0">
                <a:solidFill>
                  <a:schemeClr val="tx1">
                    <a:alpha val="90000"/>
                  </a:schemeClr>
                </a:solidFill>
              </a:rPr>
              <a:t> Neighbors</a:t>
            </a:r>
            <a:endParaRPr lang="fr-FR" sz="1200" i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17" name="Image 16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8D9E5F71-80D7-962D-4D41-A0CED54683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711" y="4738704"/>
            <a:ext cx="3025562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04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726C-2A1A-92A3-966E-DCD19771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64ADF3-20CC-0EDD-98C4-F643CC0F9EA9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 – Optimisation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103B19-4C56-D339-CFBD-F69DBA47F561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334DC3-2080-CA55-4CE9-5464043B0BE2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A3440A-ADDB-1E8B-8E63-43F0CABB5FE6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33021E-064E-23E2-9E94-59680242A490}"/>
              </a:ext>
            </a:extLst>
          </p:cNvPr>
          <p:cNvSpPr txBox="1"/>
          <p:nvPr/>
        </p:nvSpPr>
        <p:spPr>
          <a:xfrm>
            <a:off x="437635" y="576000"/>
            <a:ext cx="5424883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GridSearchCV</a:t>
            </a:r>
            <a:endParaRPr lang="fr-CH" sz="1200" b="1" u="sng" dirty="0">
              <a:solidFill>
                <a:schemeClr val="tx1">
                  <a:alpha val="90000"/>
                </a:schemeClr>
              </a:solidFill>
            </a:endParaRPr>
          </a:p>
          <a:p>
            <a:endParaRPr lang="fr-CH" sz="1200" b="1" u="sng" dirty="0">
              <a:solidFill>
                <a:schemeClr val="tx1">
                  <a:alpha val="90000"/>
                </a:schemeClr>
              </a:solidFill>
            </a:endParaRPr>
          </a:p>
          <a:p>
            <a:endParaRPr lang="fr-CH" sz="1200" b="1" u="sng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Régression logistique 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Validation croisée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Hyperparamètres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KNN 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Validation croisée (k «voisins»)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 err="1">
                <a:solidFill>
                  <a:schemeClr val="tx1">
                    <a:alpha val="90000"/>
                  </a:schemeClr>
                </a:solidFill>
              </a:rPr>
              <a:t>Decision</a:t>
            </a: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</a:t>
            </a:r>
            <a:r>
              <a:rPr lang="fr-CH" sz="1200" dirty="0" err="1">
                <a:solidFill>
                  <a:schemeClr val="tx1">
                    <a:alpha val="90000"/>
                  </a:schemeClr>
                </a:solidFill>
              </a:rPr>
              <a:t>Tree</a:t>
            </a: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Validation croisée (</a:t>
            </a:r>
            <a:r>
              <a:rPr lang="fr-CH" sz="1200" dirty="0" err="1">
                <a:solidFill>
                  <a:schemeClr val="tx1">
                    <a:alpha val="90000"/>
                  </a:schemeClr>
                </a:solidFill>
              </a:rPr>
              <a:t>max_depth</a:t>
            </a: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CH" sz="1200" dirty="0">
              <a:solidFill>
                <a:schemeClr val="tx1">
                  <a:alpha val="9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H" sz="1200" dirty="0" err="1">
                <a:solidFill>
                  <a:schemeClr val="tx1">
                    <a:alpha val="90000"/>
                  </a:schemeClr>
                </a:solidFill>
              </a:rPr>
              <a:t>Random</a:t>
            </a: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-Forest 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Validation croisée</a:t>
            </a:r>
          </a:p>
          <a:p>
            <a:pPr lvl="2"/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   (</a:t>
            </a:r>
            <a:r>
              <a:rPr lang="fr-CH" sz="1200" dirty="0" err="1">
                <a:solidFill>
                  <a:schemeClr val="tx1">
                    <a:alpha val="90000"/>
                  </a:schemeClr>
                </a:solidFill>
              </a:rPr>
              <a:t>n_estimators</a:t>
            </a: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: nombre d’arbres dans la forêt aléatoire</a:t>
            </a:r>
          </a:p>
          <a:p>
            <a:pPr lvl="2"/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   </a:t>
            </a:r>
            <a:r>
              <a:rPr lang="fr-CH" sz="1200" dirty="0" err="1">
                <a:solidFill>
                  <a:schemeClr val="tx1">
                    <a:alpha val="90000"/>
                  </a:schemeClr>
                </a:solidFill>
              </a:rPr>
              <a:t>max_depth</a:t>
            </a: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: profondeur maximale de chaque arbre</a:t>
            </a:r>
          </a:p>
          <a:p>
            <a:pPr lvl="2"/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   </a:t>
            </a:r>
            <a:r>
              <a:rPr lang="fr-CH" sz="1200" dirty="0" err="1">
                <a:solidFill>
                  <a:schemeClr val="tx1">
                    <a:alpha val="90000"/>
                  </a:schemeClr>
                </a:solidFill>
              </a:rPr>
              <a:t>min_samples_split</a:t>
            </a:r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: nombre min. d’échantillons pour</a:t>
            </a:r>
          </a:p>
          <a:p>
            <a:pPr lvl="2"/>
            <a:r>
              <a:rPr lang="fr-CH" sz="1200" dirty="0">
                <a:solidFill>
                  <a:schemeClr val="tx1">
                    <a:alpha val="90000"/>
                  </a:schemeClr>
                </a:solidFill>
              </a:rPr>
              <a:t>    scinder un nœud en 2)</a:t>
            </a:r>
            <a:endParaRPr lang="fr-FR" sz="1200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D0D2192-19EA-1AF6-1937-BC7A3C84791C}"/>
              </a:ext>
            </a:extLst>
          </p:cNvPr>
          <p:cNvSpPr txBox="1"/>
          <p:nvPr/>
        </p:nvSpPr>
        <p:spPr>
          <a:xfrm>
            <a:off x="6656976" y="580568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b="1" u="sng" dirty="0" err="1">
                <a:solidFill>
                  <a:schemeClr val="tx1">
                    <a:alpha val="90000"/>
                  </a:schemeClr>
                </a:solidFill>
              </a:rPr>
              <a:t>Oversampling</a:t>
            </a:r>
            <a:endParaRPr lang="fr-FR" sz="1200" b="1" u="sng" dirty="0">
              <a:solidFill>
                <a:schemeClr val="tx1">
                  <a:alpha val="90000"/>
                </a:schemeClr>
              </a:solidFill>
            </a:endParaRPr>
          </a:p>
        </p:txBody>
      </p:sp>
      <p:pic>
        <p:nvPicPr>
          <p:cNvPr id="9" name="Image 8" descr="Une image contenant texte, capture d’écran, Police, cercle&#10;&#10;Le contenu généré par l’IA peut être incorrect.">
            <a:extLst>
              <a:ext uri="{FF2B5EF4-FFF2-40B4-BE49-F238E27FC236}">
                <a16:creationId xmlns:a16="http://schemas.microsoft.com/office/drawing/2014/main" id="{8FD8355B-C8C8-0B79-C8E9-0B1624286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615" y="971793"/>
            <a:ext cx="3296418" cy="2630734"/>
          </a:xfrm>
          <a:prstGeom prst="rect">
            <a:avLst/>
          </a:prstGeom>
        </p:spPr>
      </p:pic>
      <p:pic>
        <p:nvPicPr>
          <p:cNvPr id="11" name="Image 10" descr="Une image contenant texte, capture d’écran, Police, cercle&#10;&#10;Le contenu généré par l’IA peut être incorrect.">
            <a:extLst>
              <a:ext uri="{FF2B5EF4-FFF2-40B4-BE49-F238E27FC236}">
                <a16:creationId xmlns:a16="http://schemas.microsoft.com/office/drawing/2014/main" id="{79B0BD03-75CF-623C-24C6-A573C0B37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615" y="3716753"/>
            <a:ext cx="3296418" cy="26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12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370B9-D5C7-9599-AFC6-37784C9EF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ABA097-EC4D-B84C-4DF1-65C2AB50CEA7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4. Algorithme de détection - Résultats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04ACE-F6F0-1D58-2117-D4E7EF155C08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738BFB-61F3-04C9-9164-A2134D2244B4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27B7DD-D302-996A-2F74-FD74CD9ACADD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DCFF2054-F2A2-104E-B2AD-C00AB04F1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64" y="2133419"/>
            <a:ext cx="606827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55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B76A-E944-CB02-CFC4-0C0A54B7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B7F9C0-116A-606B-F36F-5CF98CB6B17D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5. Recommandations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2521F0-665F-31EC-9A45-34F60D18F384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5E2EF7-C784-4DA8-382A-8F522ECD3FFD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3B30C2-8DD1-8F49-E6A7-823833B65E5C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7E19C74-8DEF-8548-3C23-A80C0B5490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86800" y="550800"/>
            <a:ext cx="9217152" cy="614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58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F4F0-73C0-20AD-7FE1-0D00D238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EA3EA-2620-0BD3-1393-90776DC38200}"/>
              </a:ext>
            </a:extLst>
          </p:cNvPr>
          <p:cNvSpPr/>
          <p:nvPr/>
        </p:nvSpPr>
        <p:spPr>
          <a:xfrm>
            <a:off x="0" y="-1"/>
            <a:ext cx="12192000" cy="466343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b="1" dirty="0"/>
              <a:t>6. Limites et conclusion</a:t>
            </a:r>
            <a:endParaRPr lang="fr-FR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04916-364A-6D8C-14F8-7BB50282C73F}"/>
              </a:ext>
            </a:extLst>
          </p:cNvPr>
          <p:cNvSpPr/>
          <p:nvPr/>
        </p:nvSpPr>
        <p:spPr>
          <a:xfrm>
            <a:off x="0" y="466342"/>
            <a:ext cx="205483" cy="586253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15E7DE-0C04-752B-B476-DD6376245261}"/>
              </a:ext>
            </a:extLst>
          </p:cNvPr>
          <p:cNvSpPr/>
          <p:nvPr/>
        </p:nvSpPr>
        <p:spPr>
          <a:xfrm>
            <a:off x="0" y="6453302"/>
            <a:ext cx="205483" cy="233738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CBD74D-D24D-5013-9C70-451668056C77}"/>
              </a:ext>
            </a:extLst>
          </p:cNvPr>
          <p:cNvSpPr txBox="1"/>
          <p:nvPr/>
        </p:nvSpPr>
        <p:spPr>
          <a:xfrm>
            <a:off x="205483" y="41096"/>
            <a:ext cx="110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ONCFM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5C5C8AC-AAA2-BC55-3FDE-04CEEC20AC43}"/>
              </a:ext>
            </a:extLst>
          </p:cNvPr>
          <p:cNvSpPr txBox="1"/>
          <p:nvPr/>
        </p:nvSpPr>
        <p:spPr>
          <a:xfrm>
            <a:off x="688489" y="1073780"/>
            <a:ext cx="494851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fr-CH" sz="1600" u="sng" dirty="0">
                <a:latin typeface="Montserrat" pitchFamily="2" charset="0"/>
              </a:rPr>
              <a:t>Limites de l’étude :</a:t>
            </a:r>
          </a:p>
          <a:p>
            <a:pPr algn="l"/>
            <a:r>
              <a:rPr lang="fr-CH" sz="1600" b="0" dirty="0">
                <a:latin typeface="Montserrat" pitchFamily="2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Qualité et disponibilité des données : </a:t>
            </a:r>
            <a:br>
              <a:rPr lang="fr-FR" sz="1600" dirty="0"/>
            </a:br>
            <a:r>
              <a:rPr lang="fr-FR" sz="1600" b="0" dirty="0"/>
              <a:t>Nous ne savons pas si les données sont issues de véritables billets en circulation. En situation réelle, les billets peuvent présenter davantage de variabilité (état d'usure, conditions de mesure, manipulations).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600" b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Modèle uniquement basé sur des caractéristiques géométriques :</a:t>
            </a:r>
            <a:br>
              <a:rPr lang="fr-FR" sz="1600" dirty="0"/>
            </a:br>
            <a:r>
              <a:rPr lang="fr-FR" sz="1600" b="0" dirty="0"/>
              <a:t>D'autres informations (matière du billet, encre, hologramme, etc.) pourraient améliorer la détection.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600" b="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CH" sz="1600" b="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574E9D-2729-3E4D-FA5B-4ADE3CCDD7F0}"/>
              </a:ext>
            </a:extLst>
          </p:cNvPr>
          <p:cNvSpPr txBox="1"/>
          <p:nvPr/>
        </p:nvSpPr>
        <p:spPr>
          <a:xfrm>
            <a:off x="6554996" y="1073780"/>
            <a:ext cx="494851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fr-CH" sz="1600" u="sng" dirty="0">
                <a:latin typeface="Montserrat" pitchFamily="2" charset="0"/>
              </a:rPr>
              <a:t>Conclusions :</a:t>
            </a:r>
          </a:p>
          <a:p>
            <a:pPr algn="l"/>
            <a:r>
              <a:rPr lang="fr-CH" sz="1600" b="0" dirty="0">
                <a:latin typeface="Montserrat" pitchFamily="2" charset="0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 modèle </a:t>
            </a:r>
            <a:r>
              <a:rPr lang="fr-FR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Random</a:t>
            </a: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Forest optimisé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été retenu pour sa capacité à maximiser le rappel tout en maintenant une excellente précision globale sur les données Train et Test.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CH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Les performances atteintes sont satisfaisantes pour l'objectif du projet : </a:t>
            </a: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minimiser le risque de faux billets classés à tort comme vrais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 projet offre une première solution efficace, adaptable et évolutive dans le cadre d'un processus de lutte contre le faux-monnayage.</a:t>
            </a:r>
            <a:endParaRPr lang="fr-CH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4940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s polices 2024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Microsoft Office PowerPoint</Application>
  <PresentationFormat>Grand écran</PresentationFormat>
  <Paragraphs>150</Paragraphs>
  <Slides>22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Aptos</vt:lpstr>
      <vt:lpstr>Arial</vt:lpstr>
      <vt:lpstr>Consolas</vt:lpstr>
      <vt:lpstr>Montserrat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Hervé Pittet</dc:creator>
  <cp:lastModifiedBy>Hervé Pittet</cp:lastModifiedBy>
  <cp:revision>2</cp:revision>
  <dcterms:created xsi:type="dcterms:W3CDTF">2025-03-31T10:04:27Z</dcterms:created>
  <dcterms:modified xsi:type="dcterms:W3CDTF">2025-04-08T05:57:40Z</dcterms:modified>
</cp:coreProperties>
</file>